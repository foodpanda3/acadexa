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B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5286375"/>
            <a:ext cx="12192000" cy="1571625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Name"/>
          <p:cNvSpPr/>
          <p:nvPr/>
        </p:nvSpPr>
        <p:spPr>
          <a:xfrm>
            <a:off x="8858250" y="1000125"/>
            <a:ext cx="2095500" cy="20955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3100" b="1">
                <a:solidFill>
                  <a:srgbClr val="111827"/>
                </a:solidFill>
              </a:rPr>
              <a:t>ACADexa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66750" y="857250"/>
            <a:ext cx="7810500" cy="1809750"/>
          </a:xfrm>
          <a:prstGeom prst="rect">
            <a:avLst/>
          </a:prstGeom>
          <a:solidFill>
            <a:srgbClr val="1D2B53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4700" dirty="0" b="1">
                <a:solidFill>
                  <a:srgbClr val="FFFFFF"/>
                </a:solidFill>
                <a:latin typeface="Aptos"/>
              </a:rPr>
              <a:t>Are you tired of printing, manual checking, and messy exam records?</a:t>
            </a:r>
            <a:endParaRPr lang="en-US" sz="4700"/>
          </a:p>
        </p:txBody>
      </p:sp>
      <p:sp>
        <p:nvSpPr>
          <p:cNvPr id="5" name="Subtitle"/>
          <p:cNvSpPr txBox="1"/>
          <p:nvPr/>
        </p:nvSpPr>
        <p:spPr>
          <a:xfrm>
            <a:off x="723900" y="2952750"/>
            <a:ext cx="7620000" cy="1000125"/>
          </a:xfrm>
          <a:prstGeom prst="rect">
            <a:avLst/>
          </a:prstGeom>
          <a:solidFill>
            <a:srgbClr val="1D2B53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400" dirty="0">
                <a:solidFill>
                  <a:srgbClr val="E0F2FE"/>
                </a:solidFill>
                <a:latin typeface="Aptos"/>
              </a:rPr>
              <a:t>ACADexa helps teachers prepare exams, share them with students, watch progress, and check results in one simple dashboard.</a:t>
            </a:r>
            <a:endParaRPr lang="en-US" sz="2400"/>
          </a:p>
        </p:txBody>
      </p:sp>
      <p:sp>
        <p:nvSpPr>
          <p:cNvPr id="6" name="Footer"/>
          <p:cNvSpPr txBox="1"/>
          <p:nvPr/>
        </p:nvSpPr>
        <p:spPr>
          <a:xfrm>
            <a:off x="762000" y="5829300"/>
            <a:ext cx="7620000" cy="381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200" dirty="0" b="1">
                <a:solidFill>
                  <a:srgbClr val="FFFFFF"/>
                </a:solidFill>
                <a:latin typeface="Aptos"/>
              </a:rPr>
              <a:t>A non-technical walkthrough of the app.</a:t>
            </a:r>
            <a:endParaRPr lang="en-US"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"/>
          <p:cNvSpPr txBox="1"/>
          <p:nvPr/>
        </p:nvSpPr>
        <p:spPr>
          <a:xfrm>
            <a:off x="762000" y="666750"/>
            <a:ext cx="10287000" cy="90487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t"/>
          <a:lstStyle/>
          <a:p>
            <a:pPr algn="c"/>
            <a:r>
              <a:rPr lang="en-US" sz="4000" dirty="0" b="1">
                <a:solidFill>
                  <a:srgbClr val="111827"/>
                </a:solidFill>
                <a:latin typeface="Aptos"/>
              </a:rPr>
              <a:t>The everyday classroom problem</a:t>
            </a:r>
            <a:endParaRPr lang="en-US" sz="4000"/>
          </a:p>
        </p:txBody>
      </p:sp>
      <p:sp>
        <p:nvSpPr>
          <p:cNvPr id="3" name="Big Card"/>
          <p:cNvSpPr/>
          <p:nvPr/>
        </p:nvSpPr>
        <p:spPr>
          <a:xfrm>
            <a:off x="1000125" y="2000250"/>
            <a:ext cx="3048000" cy="2667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5E7EB"/>
            </a:solidFill>
          </a:ln>
        </p:spPr>
      </p:sp>
      <p:sp>
        <p:nvSpPr>
          <p:cNvPr id="4" name="Big Title"/>
          <p:cNvSpPr txBox="1"/>
          <p:nvPr/>
        </p:nvSpPr>
        <p:spPr>
          <a:xfrm>
            <a:off x="1238250" y="2286000"/>
            <a:ext cx="2571750" cy="762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anchor="t"/>
          <a:lstStyle/>
          <a:p>
            <a:pPr algn="c"/>
            <a:r>
              <a:rPr lang="en-US" sz="2800" dirty="0" b="1">
                <a:solidFill>
                  <a:srgbClr val="111827"/>
                </a:solidFill>
                <a:latin typeface="Aptos"/>
              </a:rPr>
              <a:t>Printing</a:t>
            </a:r>
            <a:endParaRPr lang="en-US" sz="2800"/>
          </a:p>
        </p:txBody>
      </p:sp>
      <p:sp>
        <p:nvSpPr>
          <p:cNvPr id="5" name="Big Body"/>
          <p:cNvSpPr txBox="1"/>
          <p:nvPr/>
        </p:nvSpPr>
        <p:spPr>
          <a:xfrm>
            <a:off x="1266825" y="3286125"/>
            <a:ext cx="2524125" cy="904875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anchor="t"/>
          <a:lstStyle/>
          <a:p>
            <a:pPr algn="c"/>
            <a:r>
              <a:rPr lang="en-US" sz="2000" dirty="0">
                <a:solidFill>
                  <a:srgbClr val="374151"/>
                </a:solidFill>
                <a:latin typeface="Aptos"/>
              </a:rPr>
              <a:t>Paper copies, ink, stapling, sorting, and last-minute mistakes.</a:t>
            </a:r>
            <a:endParaRPr lang="en-US" sz="2000"/>
          </a:p>
        </p:txBody>
      </p:sp>
      <p:sp>
        <p:nvSpPr>
          <p:cNvPr id="6" name="Big Card"/>
          <p:cNvSpPr/>
          <p:nvPr/>
        </p:nvSpPr>
        <p:spPr>
          <a:xfrm>
            <a:off x="4667250" y="2000250"/>
            <a:ext cx="3048000" cy="2667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</a:ln>
        </p:spPr>
      </p:sp>
      <p:sp>
        <p:nvSpPr>
          <p:cNvPr id="7" name="Big Title"/>
          <p:cNvSpPr txBox="1"/>
          <p:nvPr/>
        </p:nvSpPr>
        <p:spPr>
          <a:xfrm>
            <a:off x="4905375" y="2286000"/>
            <a:ext cx="2571750" cy="7620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wrap="square" anchor="t"/>
          <a:lstStyle/>
          <a:p>
            <a:pPr algn="c"/>
            <a:r>
              <a:rPr lang="en-US" sz="2800" dirty="0" b="1">
                <a:solidFill>
                  <a:srgbClr val="111827"/>
                </a:solidFill>
                <a:latin typeface="Aptos"/>
              </a:rPr>
              <a:t>Manual Checking</a:t>
            </a:r>
            <a:endParaRPr lang="en-US" sz="2800"/>
          </a:p>
        </p:txBody>
      </p:sp>
      <p:sp>
        <p:nvSpPr>
          <p:cNvPr id="8" name="Big Body"/>
          <p:cNvSpPr txBox="1"/>
          <p:nvPr/>
        </p:nvSpPr>
        <p:spPr>
          <a:xfrm>
            <a:off x="4933950" y="3286125"/>
            <a:ext cx="2524125" cy="904875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wrap="square" anchor="t"/>
          <a:lstStyle/>
          <a:p>
            <a:pPr algn="c"/>
            <a:r>
              <a:rPr lang="en-US" sz="2000" dirty="0">
                <a:solidFill>
                  <a:srgbClr val="374151"/>
                </a:solidFill>
                <a:latin typeface="Aptos"/>
              </a:rPr>
              <a:t>Checking answers one by one takes time and energy.</a:t>
            </a:r>
            <a:endParaRPr lang="en-US" sz="2000"/>
          </a:p>
        </p:txBody>
      </p:sp>
      <p:sp>
        <p:nvSpPr>
          <p:cNvPr id="9" name="Big Card"/>
          <p:cNvSpPr/>
          <p:nvPr/>
        </p:nvSpPr>
        <p:spPr>
          <a:xfrm>
            <a:off x="8334375" y="2000250"/>
            <a:ext cx="3048000" cy="2667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5E7EB"/>
            </a:solidFill>
          </a:ln>
        </p:spPr>
      </p:sp>
      <p:sp>
        <p:nvSpPr>
          <p:cNvPr id="10" name="Big Title"/>
          <p:cNvSpPr txBox="1"/>
          <p:nvPr/>
        </p:nvSpPr>
        <p:spPr>
          <a:xfrm>
            <a:off x="8572500" y="2286000"/>
            <a:ext cx="2571750" cy="7620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anchor="t"/>
          <a:lstStyle/>
          <a:p>
            <a:pPr algn="c"/>
            <a:r>
              <a:rPr lang="en-US" sz="2800" dirty="0" b="1">
                <a:solidFill>
                  <a:srgbClr val="111827"/>
                </a:solidFill>
                <a:latin typeface="Aptos"/>
              </a:rPr>
              <a:t>Messy Records</a:t>
            </a:r>
            <a:endParaRPr lang="en-US" sz="2800"/>
          </a:p>
        </p:txBody>
      </p:sp>
      <p:sp>
        <p:nvSpPr>
          <p:cNvPr id="11" name="Big Body"/>
          <p:cNvSpPr txBox="1"/>
          <p:nvPr/>
        </p:nvSpPr>
        <p:spPr>
          <a:xfrm>
            <a:off x="8601075" y="3286125"/>
            <a:ext cx="2524125" cy="904875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anchor="t"/>
          <a:lstStyle/>
          <a:p>
            <a:pPr algn="c"/>
            <a:r>
              <a:rPr lang="en-US" sz="2000" dirty="0">
                <a:solidFill>
                  <a:srgbClr val="374151"/>
                </a:solidFill>
                <a:latin typeface="Aptos"/>
              </a:rPr>
              <a:t>Student lists, scores, answers, and files can become hard to track.</a:t>
            </a:r>
            <a:endParaRPr lang="en-US" sz="2000"/>
          </a:p>
        </p:txBody>
      </p:sp>
      <p:sp>
        <p:nvSpPr>
          <p:cNvPr id="50" name="Footer"/>
          <p:cNvSpPr txBox="1"/>
          <p:nvPr/>
        </p:nvSpPr>
        <p:spPr>
          <a:xfrm>
            <a:off x="952500" y="5810250"/>
            <a:ext cx="10287000" cy="42862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t"/>
          <a:lstStyle/>
          <a:p>
            <a:pPr algn="c"/>
            <a:r>
              <a:rPr lang="en-US" sz="2200" dirty="0" b="1">
                <a:solidFill>
                  <a:srgbClr val="0F766E"/>
                </a:solidFill>
                <a:latin typeface="Aptos"/>
              </a:rPr>
              <a:t>The app is designed around real teacher tasks, not coding terms.</a:t>
            </a:r>
            <a:endParaRPr lang="en-US"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8105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23875" y="209550"/>
            <a:ext cx="8858250" cy="4000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Aptos"/>
              </a:rPr>
              <a:t>What ACADexa Does in Simple Words</a:t>
            </a:r>
            <a:endParaRPr lang="en-US" sz="2800"/>
          </a:p>
        </p:txBody>
      </p:sp>
      <p:sp>
        <p:nvSpPr>
          <p:cNvPr id="4" name="Slide No"/>
          <p:cNvSpPr/>
          <p:nvPr/>
        </p:nvSpPr>
        <p:spPr>
          <a:xfrm>
            <a:off x="11191875" y="171450"/>
            <a:ext cx="438150" cy="43815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5" name="Card"/>
          <p:cNvSpPr/>
          <p:nvPr/>
        </p:nvSpPr>
        <p:spPr>
          <a:xfrm>
            <a:off x="666750" y="123825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6" name="Card Title"/>
          <p:cNvSpPr txBox="1"/>
          <p:nvPr/>
        </p:nvSpPr>
        <p:spPr>
          <a:xfrm>
            <a:off x="876300" y="144780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Teacher side</a:t>
            </a:r>
            <a:endParaRPr lang="en-US" sz="2100"/>
          </a:p>
        </p:txBody>
      </p:sp>
      <p:sp>
        <p:nvSpPr>
          <p:cNvPr id="7" name="Card Body"/>
          <p:cNvSpPr txBox="1"/>
          <p:nvPr/>
        </p:nvSpPr>
        <p:spPr>
          <a:xfrm>
            <a:off x="895350" y="192405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Manage students, prepare exams, monitor progress, and review scores.</a:t>
            </a:r>
            <a:endParaRPr lang="en-US" sz="1700"/>
          </a:p>
        </p:txBody>
      </p:sp>
      <p:sp>
        <p:nvSpPr>
          <p:cNvPr id="8" name="Card"/>
          <p:cNvSpPr/>
          <p:nvPr/>
        </p:nvSpPr>
        <p:spPr>
          <a:xfrm>
            <a:off x="4429125" y="123825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9" name="Card Title"/>
          <p:cNvSpPr txBox="1"/>
          <p:nvPr/>
        </p:nvSpPr>
        <p:spPr>
          <a:xfrm>
            <a:off x="4638675" y="144780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Student side</a:t>
            </a:r>
            <a:endParaRPr lang="en-US" sz="2100"/>
          </a:p>
        </p:txBody>
      </p:sp>
      <p:sp>
        <p:nvSpPr>
          <p:cNvPr id="10" name="Card Body"/>
          <p:cNvSpPr txBox="1"/>
          <p:nvPr/>
        </p:nvSpPr>
        <p:spPr>
          <a:xfrm>
            <a:off x="4657725" y="192405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Open the exam using a QR code or link, then submit answers.</a:t>
            </a:r>
            <a:endParaRPr lang="en-US" sz="1700"/>
          </a:p>
        </p:txBody>
      </p:sp>
      <p:sp>
        <p:nvSpPr>
          <p:cNvPr id="11" name="Card"/>
          <p:cNvSpPr/>
          <p:nvPr/>
        </p:nvSpPr>
        <p:spPr>
          <a:xfrm>
            <a:off x="8191500" y="123825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12" name="Card Title"/>
          <p:cNvSpPr txBox="1"/>
          <p:nvPr/>
        </p:nvSpPr>
        <p:spPr>
          <a:xfrm>
            <a:off x="8401050" y="144780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Record side</a:t>
            </a:r>
            <a:endParaRPr lang="en-US" sz="2100"/>
          </a:p>
        </p:txBody>
      </p:sp>
      <p:sp>
        <p:nvSpPr>
          <p:cNvPr id="13" name="Card Body"/>
          <p:cNvSpPr txBox="1"/>
          <p:nvPr/>
        </p:nvSpPr>
        <p:spPr>
          <a:xfrm>
            <a:off x="8420100" y="192405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Keep exam files, answers, and scores organized for later review.</a:t>
            </a:r>
            <a:endParaRPr lang="en-US" sz="1700"/>
          </a:p>
        </p:txBody>
      </p:sp>
      <p:sp>
        <p:nvSpPr>
          <p:cNvPr id="50" name="Footer"/>
          <p:cNvSpPr txBox="1"/>
          <p:nvPr/>
        </p:nvSpPr>
        <p:spPr>
          <a:xfrm>
            <a:off x="666750" y="6096000"/>
            <a:ext cx="10287000" cy="3619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t"/>
          <a:lstStyle/>
          <a:p>
            <a:pPr algn="c"/>
            <a:r>
              <a:rPr lang="en-US" sz="1800" dirty="0" b="1">
                <a:solidFill>
                  <a:srgbClr val="0F766E"/>
                </a:solidFill>
                <a:latin typeface="Aptos"/>
              </a:rPr>
              <a:t>One app for the teacher, one simple link or QR code for students.</a:t>
            </a:r>
            <a:endParaRPr 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8105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23875" y="209550"/>
            <a:ext cx="8858250" cy="4000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Aptos"/>
              </a:rPr>
              <a:t>Complete App Flow</a:t>
            </a:r>
            <a:endParaRPr lang="en-US" sz="2800"/>
          </a:p>
        </p:txBody>
      </p:sp>
      <p:sp>
        <p:nvSpPr>
          <p:cNvPr id="4" name="Slide No"/>
          <p:cNvSpPr/>
          <p:nvPr/>
        </p:nvSpPr>
        <p:spPr>
          <a:xfrm>
            <a:off x="11191875" y="171450"/>
            <a:ext cx="438150" cy="43815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5" name="Card"/>
          <p:cNvSpPr/>
          <p:nvPr/>
        </p:nvSpPr>
        <p:spPr>
          <a:xfrm>
            <a:off x="666750" y="1238250"/>
            <a:ext cx="3238500" cy="1762125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5E7EB"/>
            </a:solidFill>
          </a:ln>
        </p:spPr>
      </p:sp>
      <p:sp>
        <p:nvSpPr>
          <p:cNvPr id="6" name="Card Title"/>
          <p:cNvSpPr txBox="1"/>
          <p:nvPr/>
        </p:nvSpPr>
        <p:spPr>
          <a:xfrm>
            <a:off x="876300" y="1447800"/>
            <a:ext cx="2857500" cy="4191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1. Login</a:t>
            </a:r>
            <a:endParaRPr lang="en-US" sz="2100"/>
          </a:p>
        </p:txBody>
      </p:sp>
      <p:sp>
        <p:nvSpPr>
          <p:cNvPr id="7" name="Card Body"/>
          <p:cNvSpPr txBox="1"/>
          <p:nvPr/>
        </p:nvSpPr>
        <p:spPr>
          <a:xfrm>
            <a:off x="895350" y="1924050"/>
            <a:ext cx="2781300" cy="914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The teacher opens ACADexa and logs in as admin.</a:t>
            </a:r>
            <a:endParaRPr lang="en-US" sz="1700"/>
          </a:p>
        </p:txBody>
      </p:sp>
      <p:sp>
        <p:nvSpPr>
          <p:cNvPr id="8" name="Card"/>
          <p:cNvSpPr/>
          <p:nvPr/>
        </p:nvSpPr>
        <p:spPr>
          <a:xfrm>
            <a:off x="4429125" y="1238250"/>
            <a:ext cx="3238500" cy="1762125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</a:ln>
        </p:spPr>
      </p:sp>
      <p:sp>
        <p:nvSpPr>
          <p:cNvPr id="9" name="Card Title"/>
          <p:cNvSpPr txBox="1"/>
          <p:nvPr/>
        </p:nvSpPr>
        <p:spPr>
          <a:xfrm>
            <a:off x="4638675" y="1447800"/>
            <a:ext cx="2857500" cy="4191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2. Students</a:t>
            </a:r>
            <a:endParaRPr lang="en-US" sz="2100"/>
          </a:p>
        </p:txBody>
      </p:sp>
      <p:sp>
        <p:nvSpPr>
          <p:cNvPr id="10" name="Card Body"/>
          <p:cNvSpPr txBox="1"/>
          <p:nvPr/>
        </p:nvSpPr>
        <p:spPr>
          <a:xfrm>
            <a:off x="4657725" y="1924050"/>
            <a:ext cx="2781300" cy="914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Add or import student names by class or section.</a:t>
            </a:r>
            <a:endParaRPr lang="en-US" sz="1700"/>
          </a:p>
        </p:txBody>
      </p:sp>
      <p:sp>
        <p:nvSpPr>
          <p:cNvPr id="11" name="Card"/>
          <p:cNvSpPr/>
          <p:nvPr/>
        </p:nvSpPr>
        <p:spPr>
          <a:xfrm>
            <a:off x="8191500" y="1238250"/>
            <a:ext cx="3238500" cy="1762125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5E7EB"/>
            </a:solidFill>
          </a:ln>
        </p:spPr>
      </p:sp>
      <p:sp>
        <p:nvSpPr>
          <p:cNvPr id="12" name="Card Title"/>
          <p:cNvSpPr txBox="1"/>
          <p:nvPr/>
        </p:nvSpPr>
        <p:spPr>
          <a:xfrm>
            <a:off x="8401050" y="1447800"/>
            <a:ext cx="2857500" cy="4191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3. Exam setup</a:t>
            </a:r>
            <a:endParaRPr lang="en-US" sz="2100"/>
          </a:p>
        </p:txBody>
      </p:sp>
      <p:sp>
        <p:nvSpPr>
          <p:cNvPr id="13" name="Card Body"/>
          <p:cNvSpPr txBox="1"/>
          <p:nvPr/>
        </p:nvSpPr>
        <p:spPr>
          <a:xfrm>
            <a:off x="8420100" y="1924050"/>
            <a:ext cx="2781300" cy="9144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Upload PDF, answer key, title, section, and time limit.</a:t>
            </a:r>
            <a:endParaRPr lang="en-US" sz="1700"/>
          </a:p>
        </p:txBody>
      </p:sp>
      <p:sp>
        <p:nvSpPr>
          <p:cNvPr id="14" name="Card"/>
          <p:cNvSpPr/>
          <p:nvPr/>
        </p:nvSpPr>
        <p:spPr>
          <a:xfrm>
            <a:off x="666750" y="3429000"/>
            <a:ext cx="3238500" cy="1762125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E5E7EB"/>
            </a:solidFill>
          </a:ln>
        </p:spPr>
      </p:sp>
      <p:sp>
        <p:nvSpPr>
          <p:cNvPr id="15" name="Card Title"/>
          <p:cNvSpPr txBox="1"/>
          <p:nvPr/>
        </p:nvSpPr>
        <p:spPr>
          <a:xfrm>
            <a:off x="876300" y="3638550"/>
            <a:ext cx="2857500" cy="41910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4. Share</a:t>
            </a:r>
            <a:endParaRPr lang="en-US" sz="2100"/>
          </a:p>
        </p:txBody>
      </p:sp>
      <p:sp>
        <p:nvSpPr>
          <p:cNvPr id="16" name="Card Body"/>
          <p:cNvSpPr txBox="1"/>
          <p:nvPr/>
        </p:nvSpPr>
        <p:spPr>
          <a:xfrm>
            <a:off x="895350" y="4114800"/>
            <a:ext cx="2781300" cy="91440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Generate a QR code or local link for students.</a:t>
            </a:r>
            <a:endParaRPr lang="en-US" sz="1700"/>
          </a:p>
        </p:txBody>
      </p:sp>
      <p:sp>
        <p:nvSpPr>
          <p:cNvPr id="17" name="Card"/>
          <p:cNvSpPr/>
          <p:nvPr/>
        </p:nvSpPr>
        <p:spPr>
          <a:xfrm>
            <a:off x="4429125" y="3429000"/>
            <a:ext cx="3238500" cy="1762125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5E7EB"/>
            </a:solidFill>
          </a:ln>
        </p:spPr>
      </p:sp>
      <p:sp>
        <p:nvSpPr>
          <p:cNvPr id="18" name="Card Title"/>
          <p:cNvSpPr txBox="1"/>
          <p:nvPr/>
        </p:nvSpPr>
        <p:spPr>
          <a:xfrm>
            <a:off x="4638675" y="3638550"/>
            <a:ext cx="2857500" cy="4191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5. Monitor</a:t>
            </a:r>
            <a:endParaRPr lang="en-US" sz="2100"/>
          </a:p>
        </p:txBody>
      </p:sp>
      <p:sp>
        <p:nvSpPr>
          <p:cNvPr id="19" name="Card Body"/>
          <p:cNvSpPr txBox="1"/>
          <p:nvPr/>
        </p:nvSpPr>
        <p:spPr>
          <a:xfrm>
            <a:off x="4657725" y="4114800"/>
            <a:ext cx="2781300" cy="9144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Watch students while they are answering.</a:t>
            </a:r>
            <a:endParaRPr lang="en-US" sz="1700"/>
          </a:p>
        </p:txBody>
      </p:sp>
      <p:sp>
        <p:nvSpPr>
          <p:cNvPr id="20" name="Card"/>
          <p:cNvSpPr/>
          <p:nvPr/>
        </p:nvSpPr>
        <p:spPr>
          <a:xfrm>
            <a:off x="8191500" y="3429000"/>
            <a:ext cx="3238500" cy="1762125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5E7EB"/>
            </a:solidFill>
          </a:ln>
        </p:spPr>
      </p:sp>
      <p:sp>
        <p:nvSpPr>
          <p:cNvPr id="21" name="Card Title"/>
          <p:cNvSpPr txBox="1"/>
          <p:nvPr/>
        </p:nvSpPr>
        <p:spPr>
          <a:xfrm>
            <a:off x="8401050" y="3638550"/>
            <a:ext cx="2857500" cy="4191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6. Review</a:t>
            </a:r>
            <a:endParaRPr lang="en-US" sz="2100"/>
          </a:p>
        </p:txBody>
      </p:sp>
      <p:sp>
        <p:nvSpPr>
          <p:cNvPr id="22" name="Card Body"/>
          <p:cNvSpPr txBox="1"/>
          <p:nvPr/>
        </p:nvSpPr>
        <p:spPr>
          <a:xfrm>
            <a:off x="8420100" y="4114800"/>
            <a:ext cx="2781300" cy="9144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Check scores, answers, and export results.</a:t>
            </a:r>
            <a:endParaRPr lang="en-US" sz="1700"/>
          </a:p>
        </p:txBody>
      </p:sp>
      <p:sp>
        <p:nvSpPr>
          <p:cNvPr id="50" name="Footer"/>
          <p:cNvSpPr txBox="1"/>
          <p:nvPr/>
        </p:nvSpPr>
        <p:spPr>
          <a:xfrm>
            <a:off x="666750" y="6096000"/>
            <a:ext cx="10287000" cy="3619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t"/>
          <a:lstStyle/>
          <a:p>
            <a:pPr algn="c"/>
            <a:r>
              <a:rPr lang="en-US" sz="1800" dirty="0" b="1">
                <a:solidFill>
                  <a:srgbClr val="0F766E"/>
                </a:solidFill>
                <a:latin typeface="Aptos"/>
              </a:rPr>
              <a:t>This is the main story of the presentation.</a:t>
            </a:r>
            <a:endParaRPr 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8105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23875" y="209550"/>
            <a:ext cx="8858250" cy="4000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Aptos"/>
              </a:rPr>
              <a:t>Step 1: Login or Register</a:t>
            </a:r>
            <a:endParaRPr lang="en-US" sz="2800"/>
          </a:p>
        </p:txBody>
      </p:sp>
      <p:sp>
        <p:nvSpPr>
          <p:cNvPr id="4" name="Slide No"/>
          <p:cNvSpPr/>
          <p:nvPr/>
        </p:nvSpPr>
        <p:spPr>
          <a:xfrm>
            <a:off x="11191875" y="171450"/>
            <a:ext cx="438150" cy="43815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>
                <a:solidFill>
                  <a:srgbClr val="111827"/>
                </a:solidFill>
              </a:rPr>
              <a:t>5</a:t>
            </a:r>
          </a:p>
        </p:txBody>
      </p:sp>
      <p:sp>
        <p:nvSpPr>
          <p:cNvPr id="5" name="Card"/>
          <p:cNvSpPr/>
          <p:nvPr/>
        </p:nvSpPr>
        <p:spPr>
          <a:xfrm>
            <a:off x="666750" y="123825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6" name="Card Title"/>
          <p:cNvSpPr txBox="1"/>
          <p:nvPr/>
        </p:nvSpPr>
        <p:spPr>
          <a:xfrm>
            <a:off x="876300" y="144780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Open the app</a:t>
            </a:r>
            <a:endParaRPr lang="en-US" sz="2100"/>
          </a:p>
        </p:txBody>
      </p:sp>
      <p:sp>
        <p:nvSpPr>
          <p:cNvPr id="7" name="Card Body"/>
          <p:cNvSpPr txBox="1"/>
          <p:nvPr/>
        </p:nvSpPr>
        <p:spPr>
          <a:xfrm>
            <a:off x="895350" y="192405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Launch ACADexa from the desktop shortcut or app file.</a:t>
            </a:r>
            <a:endParaRPr lang="en-US" sz="1700"/>
          </a:p>
        </p:txBody>
      </p:sp>
      <p:sp>
        <p:nvSpPr>
          <p:cNvPr id="8" name="Card"/>
          <p:cNvSpPr/>
          <p:nvPr/>
        </p:nvSpPr>
        <p:spPr>
          <a:xfrm>
            <a:off x="4429125" y="123825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9" name="Card Title"/>
          <p:cNvSpPr txBox="1"/>
          <p:nvPr/>
        </p:nvSpPr>
        <p:spPr>
          <a:xfrm>
            <a:off x="4638675" y="144780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Register admin</a:t>
            </a:r>
            <a:endParaRPr lang="en-US" sz="2100"/>
          </a:p>
        </p:txBody>
      </p:sp>
      <p:sp>
        <p:nvSpPr>
          <p:cNvPr id="10" name="Card Body"/>
          <p:cNvSpPr txBox="1"/>
          <p:nvPr/>
        </p:nvSpPr>
        <p:spPr>
          <a:xfrm>
            <a:off x="4657725" y="192405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Create an admin account if there is no account yet.</a:t>
            </a:r>
            <a:endParaRPr lang="en-US" sz="1700"/>
          </a:p>
        </p:txBody>
      </p:sp>
      <p:sp>
        <p:nvSpPr>
          <p:cNvPr id="11" name="Card"/>
          <p:cNvSpPr/>
          <p:nvPr/>
        </p:nvSpPr>
        <p:spPr>
          <a:xfrm>
            <a:off x="8191500" y="123825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12" name="Card Title"/>
          <p:cNvSpPr txBox="1"/>
          <p:nvPr/>
        </p:nvSpPr>
        <p:spPr>
          <a:xfrm>
            <a:off x="8401050" y="144780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Login</a:t>
            </a:r>
            <a:endParaRPr lang="en-US" sz="2100"/>
          </a:p>
        </p:txBody>
      </p:sp>
      <p:sp>
        <p:nvSpPr>
          <p:cNvPr id="13" name="Card Body"/>
          <p:cNvSpPr txBox="1"/>
          <p:nvPr/>
        </p:nvSpPr>
        <p:spPr>
          <a:xfrm>
            <a:off x="8420100" y="192405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Enter username and password to open the dashboard.</a:t>
            </a:r>
            <a:endParaRPr lang="en-US" sz="1700"/>
          </a:p>
        </p:txBody>
      </p:sp>
      <p:sp>
        <p:nvSpPr>
          <p:cNvPr id="50" name="Footer"/>
          <p:cNvSpPr txBox="1"/>
          <p:nvPr/>
        </p:nvSpPr>
        <p:spPr>
          <a:xfrm>
            <a:off x="666750" y="6096000"/>
            <a:ext cx="10287000" cy="3619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t"/>
          <a:lstStyle/>
          <a:p>
            <a:pPr algn="c"/>
            <a:r>
              <a:rPr lang="en-US" sz="1800" dirty="0" b="1">
                <a:solidFill>
                  <a:srgbClr val="0F766E"/>
                </a:solidFill>
                <a:latin typeface="Aptos"/>
              </a:rPr>
              <a:t>Start here before using the dashboard.</a:t>
            </a:r>
            <a:endParaRPr 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8105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23875" y="209550"/>
            <a:ext cx="8858250" cy="4000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Aptos"/>
              </a:rPr>
              <a:t>Step 2: Dashboard</a:t>
            </a:r>
            <a:endParaRPr lang="en-US" sz="2800"/>
          </a:p>
        </p:txBody>
      </p:sp>
      <p:sp>
        <p:nvSpPr>
          <p:cNvPr id="4" name="Slide No"/>
          <p:cNvSpPr/>
          <p:nvPr/>
        </p:nvSpPr>
        <p:spPr>
          <a:xfrm>
            <a:off x="11191875" y="171450"/>
            <a:ext cx="438150" cy="43815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>
                <a:solidFill>
                  <a:srgbClr val="111827"/>
                </a:solidFill>
              </a:rPr>
              <a:t>6</a:t>
            </a:r>
          </a:p>
        </p:txBody>
      </p:sp>
      <p:sp>
        <p:nvSpPr>
          <p:cNvPr id="5" name="Card"/>
          <p:cNvSpPr/>
          <p:nvPr/>
        </p:nvSpPr>
        <p:spPr>
          <a:xfrm>
            <a:off x="666750" y="1238250"/>
            <a:ext cx="3238500" cy="1762125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E5E7EB"/>
            </a:solidFill>
          </a:ln>
        </p:spPr>
      </p:sp>
      <p:sp>
        <p:nvSpPr>
          <p:cNvPr id="6" name="Card Title"/>
          <p:cNvSpPr txBox="1"/>
          <p:nvPr/>
        </p:nvSpPr>
        <p:spPr>
          <a:xfrm>
            <a:off x="876300" y="1447800"/>
            <a:ext cx="2857500" cy="41910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Main menu</a:t>
            </a:r>
            <a:endParaRPr lang="en-US" sz="2100"/>
          </a:p>
        </p:txBody>
      </p:sp>
      <p:sp>
        <p:nvSpPr>
          <p:cNvPr id="7" name="Card Body"/>
          <p:cNvSpPr txBox="1"/>
          <p:nvPr/>
        </p:nvSpPr>
        <p:spPr>
          <a:xfrm>
            <a:off x="895350" y="1924050"/>
            <a:ext cx="2781300" cy="91440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Use the left menu to open Students, Exams, Live Monitor, and Scores.</a:t>
            </a:r>
            <a:endParaRPr lang="en-US" sz="1700"/>
          </a:p>
        </p:txBody>
      </p:sp>
      <p:sp>
        <p:nvSpPr>
          <p:cNvPr id="8" name="Card"/>
          <p:cNvSpPr/>
          <p:nvPr/>
        </p:nvSpPr>
        <p:spPr>
          <a:xfrm>
            <a:off x="4429125" y="1238250"/>
            <a:ext cx="3238500" cy="1762125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5E7EB"/>
            </a:solidFill>
          </a:ln>
        </p:spPr>
      </p:sp>
      <p:sp>
        <p:nvSpPr>
          <p:cNvPr id="9" name="Card Title"/>
          <p:cNvSpPr txBox="1"/>
          <p:nvPr/>
        </p:nvSpPr>
        <p:spPr>
          <a:xfrm>
            <a:off x="4638675" y="1447800"/>
            <a:ext cx="2857500" cy="4191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Quick actions</a:t>
            </a:r>
            <a:endParaRPr lang="en-US" sz="2100"/>
          </a:p>
        </p:txBody>
      </p:sp>
      <p:sp>
        <p:nvSpPr>
          <p:cNvPr id="10" name="Card Body"/>
          <p:cNvSpPr txBox="1"/>
          <p:nvPr/>
        </p:nvSpPr>
        <p:spPr>
          <a:xfrm>
            <a:off x="4657725" y="1924050"/>
            <a:ext cx="2781300" cy="9144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Open the next task without searching through many windows.</a:t>
            </a:r>
            <a:endParaRPr lang="en-US" sz="1700"/>
          </a:p>
        </p:txBody>
      </p:sp>
      <p:sp>
        <p:nvSpPr>
          <p:cNvPr id="11" name="Card"/>
          <p:cNvSpPr/>
          <p:nvPr/>
        </p:nvSpPr>
        <p:spPr>
          <a:xfrm>
            <a:off x="8191500" y="1238250"/>
            <a:ext cx="3238500" cy="1762125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5E7EB"/>
            </a:solidFill>
          </a:ln>
        </p:spPr>
      </p:sp>
      <p:sp>
        <p:nvSpPr>
          <p:cNvPr id="12" name="Card Title"/>
          <p:cNvSpPr txBox="1"/>
          <p:nvPr/>
        </p:nvSpPr>
        <p:spPr>
          <a:xfrm>
            <a:off x="8401050" y="1447800"/>
            <a:ext cx="2857500" cy="4191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At a glance</a:t>
            </a:r>
            <a:endParaRPr lang="en-US" sz="2100"/>
          </a:p>
        </p:txBody>
      </p:sp>
      <p:sp>
        <p:nvSpPr>
          <p:cNvPr id="13" name="Card Body"/>
          <p:cNvSpPr txBox="1"/>
          <p:nvPr/>
        </p:nvSpPr>
        <p:spPr>
          <a:xfrm>
            <a:off x="8420100" y="1924050"/>
            <a:ext cx="2781300" cy="914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See the main parts of the exam workflow in one place.</a:t>
            </a:r>
            <a:endParaRPr lang="en-US" sz="1700"/>
          </a:p>
        </p:txBody>
      </p:sp>
      <p:sp>
        <p:nvSpPr>
          <p:cNvPr id="50" name="Footer"/>
          <p:cNvSpPr txBox="1"/>
          <p:nvPr/>
        </p:nvSpPr>
        <p:spPr>
          <a:xfrm>
            <a:off x="666750" y="6096000"/>
            <a:ext cx="10287000" cy="3619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t"/>
          <a:lstStyle/>
          <a:p>
            <a:pPr algn="c"/>
            <a:r>
              <a:rPr lang="en-US" sz="1800" dirty="0" b="1">
                <a:solidFill>
                  <a:srgbClr val="0F766E"/>
                </a:solidFill>
                <a:latin typeface="Aptos"/>
              </a:rPr>
              <a:t>The dashboard is the teacher control center.</a:t>
            </a:r>
            <a:endParaRPr 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8105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23875" y="209550"/>
            <a:ext cx="8858250" cy="4000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Aptos"/>
              </a:rPr>
              <a:t>Step 3: Manage Students</a:t>
            </a:r>
            <a:endParaRPr lang="en-US" sz="2800"/>
          </a:p>
        </p:txBody>
      </p:sp>
      <p:sp>
        <p:nvSpPr>
          <p:cNvPr id="4" name="Slide No"/>
          <p:cNvSpPr/>
          <p:nvPr/>
        </p:nvSpPr>
        <p:spPr>
          <a:xfrm>
            <a:off x="11191875" y="171450"/>
            <a:ext cx="438150" cy="43815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>
                <a:solidFill>
                  <a:srgbClr val="111827"/>
                </a:solidFill>
              </a:rPr>
              <a:t>7</a:t>
            </a:r>
          </a:p>
        </p:txBody>
      </p:sp>
      <p:sp>
        <p:nvSpPr>
          <p:cNvPr id="5" name="Card"/>
          <p:cNvSpPr/>
          <p:nvPr/>
        </p:nvSpPr>
        <p:spPr>
          <a:xfrm>
            <a:off x="666750" y="123825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6" name="Card Title"/>
          <p:cNvSpPr txBox="1"/>
          <p:nvPr/>
        </p:nvSpPr>
        <p:spPr>
          <a:xfrm>
            <a:off x="876300" y="144780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Enter section</a:t>
            </a:r>
            <a:endParaRPr lang="en-US" sz="2100"/>
          </a:p>
        </p:txBody>
      </p:sp>
      <p:sp>
        <p:nvSpPr>
          <p:cNvPr id="7" name="Card Body"/>
          <p:cNvSpPr txBox="1"/>
          <p:nvPr/>
        </p:nvSpPr>
        <p:spPr>
          <a:xfrm>
            <a:off x="895350" y="192405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Type or choose the class or section name.</a:t>
            </a:r>
            <a:endParaRPr lang="en-US" sz="1700"/>
          </a:p>
        </p:txBody>
      </p:sp>
      <p:sp>
        <p:nvSpPr>
          <p:cNvPr id="8" name="Card"/>
          <p:cNvSpPr/>
          <p:nvPr/>
        </p:nvSpPr>
        <p:spPr>
          <a:xfrm>
            <a:off x="4429125" y="123825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9" name="Card Title"/>
          <p:cNvSpPr txBox="1"/>
          <p:nvPr/>
        </p:nvSpPr>
        <p:spPr>
          <a:xfrm>
            <a:off x="4638675" y="144780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Add/import names</a:t>
            </a:r>
            <a:endParaRPr lang="en-US" sz="2100"/>
          </a:p>
        </p:txBody>
      </p:sp>
      <p:sp>
        <p:nvSpPr>
          <p:cNvPr id="10" name="Card Body"/>
          <p:cNvSpPr txBox="1"/>
          <p:nvPr/>
        </p:nvSpPr>
        <p:spPr>
          <a:xfrm>
            <a:off x="4657725" y="192405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Import the roster using Excel or CSV, or organize records manually.</a:t>
            </a:r>
            <a:endParaRPr lang="en-US" sz="1700"/>
          </a:p>
        </p:txBody>
      </p:sp>
      <p:sp>
        <p:nvSpPr>
          <p:cNvPr id="11" name="Card"/>
          <p:cNvSpPr/>
          <p:nvPr/>
        </p:nvSpPr>
        <p:spPr>
          <a:xfrm>
            <a:off x="8191500" y="123825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12" name="Card Title"/>
          <p:cNvSpPr txBox="1"/>
          <p:nvPr/>
        </p:nvSpPr>
        <p:spPr>
          <a:xfrm>
            <a:off x="8401050" y="144780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Generated details</a:t>
            </a:r>
            <a:endParaRPr lang="en-US" sz="2100"/>
          </a:p>
        </p:txBody>
      </p:sp>
      <p:sp>
        <p:nvSpPr>
          <p:cNvPr id="13" name="Card Body"/>
          <p:cNvSpPr txBox="1"/>
          <p:nvPr/>
        </p:nvSpPr>
        <p:spPr>
          <a:xfrm>
            <a:off x="8420100" y="192405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The app creates student IDs and secret PINs automatically.</a:t>
            </a:r>
            <a:endParaRPr lang="en-US" sz="1700"/>
          </a:p>
        </p:txBody>
      </p:sp>
      <p:sp>
        <p:nvSpPr>
          <p:cNvPr id="50" name="Footer"/>
          <p:cNvSpPr txBox="1"/>
          <p:nvPr/>
        </p:nvSpPr>
        <p:spPr>
          <a:xfrm>
            <a:off x="666750" y="6096000"/>
            <a:ext cx="10287000" cy="3619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t"/>
          <a:lstStyle/>
          <a:p>
            <a:pPr algn="c"/>
            <a:r>
              <a:rPr lang="en-US" sz="1800" dirty="0" b="1">
                <a:solidFill>
                  <a:srgbClr val="0F766E"/>
                </a:solidFill>
                <a:latin typeface="Aptos"/>
              </a:rPr>
              <a:t>Prepare the class list before creating the exam.</a:t>
            </a:r>
            <a:endParaRPr 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8105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23875" y="209550"/>
            <a:ext cx="8858250" cy="4000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Aptos"/>
              </a:rPr>
              <a:t>Roster Format: Excel (.xlsx)</a:t>
            </a:r>
            <a:endParaRPr lang="en-US" sz="2800"/>
          </a:p>
        </p:txBody>
      </p:sp>
      <p:sp>
        <p:nvSpPr>
          <p:cNvPr id="4" name="Slide No"/>
          <p:cNvSpPr/>
          <p:nvPr/>
        </p:nvSpPr>
        <p:spPr>
          <a:xfrm>
            <a:off x="11191875" y="171450"/>
            <a:ext cx="438150" cy="43815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>
                <a:solidFill>
                  <a:srgbClr val="111827"/>
                </a:solidFill>
              </a:rPr>
              <a:t>8</a:t>
            </a:r>
          </a:p>
        </p:txBody>
      </p:sp>
      <p:sp>
        <p:nvSpPr>
          <p:cNvPr id="5" name="Card"/>
          <p:cNvSpPr/>
          <p:nvPr/>
        </p:nvSpPr>
        <p:spPr>
          <a:xfrm>
            <a:off x="666750" y="1238250"/>
            <a:ext cx="3238500" cy="1762125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</a:ln>
        </p:spPr>
      </p:sp>
      <p:sp>
        <p:nvSpPr>
          <p:cNvPr id="6" name="Card Title"/>
          <p:cNvSpPr txBox="1"/>
          <p:nvPr/>
        </p:nvSpPr>
        <p:spPr>
          <a:xfrm>
            <a:off x="876300" y="1447800"/>
            <a:ext cx="2857500" cy="4191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Accepted file</a:t>
            </a:r>
            <a:endParaRPr lang="en-US" sz="2100"/>
          </a:p>
        </p:txBody>
      </p:sp>
      <p:sp>
        <p:nvSpPr>
          <p:cNvPr id="7" name="Card Body"/>
          <p:cNvSpPr txBox="1"/>
          <p:nvPr/>
        </p:nvSpPr>
        <p:spPr>
          <a:xfrm>
            <a:off x="895350" y="1924050"/>
            <a:ext cx="2781300" cy="914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Use an Excel .xlsx file.</a:t>
            </a:r>
            <a:endParaRPr lang="en-US" sz="1700"/>
          </a:p>
        </p:txBody>
      </p:sp>
      <p:sp>
        <p:nvSpPr>
          <p:cNvPr id="8" name="Card"/>
          <p:cNvSpPr/>
          <p:nvPr/>
        </p:nvSpPr>
        <p:spPr>
          <a:xfrm>
            <a:off x="4429125" y="1238250"/>
            <a:ext cx="3238500" cy="1762125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5E7EB"/>
            </a:solidFill>
          </a:ln>
        </p:spPr>
      </p:sp>
      <p:sp>
        <p:nvSpPr>
          <p:cNvPr id="9" name="Card Title"/>
          <p:cNvSpPr txBox="1"/>
          <p:nvPr/>
        </p:nvSpPr>
        <p:spPr>
          <a:xfrm>
            <a:off x="4638675" y="1447800"/>
            <a:ext cx="2857500" cy="4191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Header row</a:t>
            </a:r>
            <a:endParaRPr lang="en-US" sz="2100"/>
          </a:p>
        </p:txBody>
      </p:sp>
      <p:sp>
        <p:nvSpPr>
          <p:cNvPr id="10" name="Card Body"/>
          <p:cNvSpPr txBox="1"/>
          <p:nvPr/>
        </p:nvSpPr>
        <p:spPr>
          <a:xfrm>
            <a:off x="4657725" y="1924050"/>
            <a:ext cx="2781300" cy="9144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Row 1 is skipped. Put a header like Student Name.</a:t>
            </a:r>
            <a:endParaRPr lang="en-US" sz="1700"/>
          </a:p>
        </p:txBody>
      </p:sp>
      <p:sp>
        <p:nvSpPr>
          <p:cNvPr id="11" name="Card"/>
          <p:cNvSpPr/>
          <p:nvPr/>
        </p:nvSpPr>
        <p:spPr>
          <a:xfrm>
            <a:off x="8191500" y="1238250"/>
            <a:ext cx="3238500" cy="1762125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5E7EB"/>
            </a:solidFill>
          </a:ln>
        </p:spPr>
      </p:sp>
      <p:sp>
        <p:nvSpPr>
          <p:cNvPr id="12" name="Card Title"/>
          <p:cNvSpPr txBox="1"/>
          <p:nvPr/>
        </p:nvSpPr>
        <p:spPr>
          <a:xfrm>
            <a:off x="8401050" y="1447800"/>
            <a:ext cx="2857500" cy="4191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Column A</a:t>
            </a:r>
            <a:endParaRPr lang="en-US" sz="2100"/>
          </a:p>
        </p:txBody>
      </p:sp>
      <p:sp>
        <p:nvSpPr>
          <p:cNvPr id="13" name="Card Body"/>
          <p:cNvSpPr txBox="1"/>
          <p:nvPr/>
        </p:nvSpPr>
        <p:spPr>
          <a:xfrm>
            <a:off x="8420100" y="1924050"/>
            <a:ext cx="2781300" cy="914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Place one student full name per row in Column A.</a:t>
            </a:r>
            <a:endParaRPr lang="en-US" sz="1700"/>
          </a:p>
        </p:txBody>
      </p:sp>
      <p:sp>
        <p:nvSpPr>
          <p:cNvPr id="14" name="Card"/>
          <p:cNvSpPr/>
          <p:nvPr/>
        </p:nvSpPr>
        <p:spPr>
          <a:xfrm>
            <a:off x="666750" y="342900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15" name="Card Title"/>
          <p:cNvSpPr txBox="1"/>
          <p:nvPr/>
        </p:nvSpPr>
        <p:spPr>
          <a:xfrm>
            <a:off x="876300" y="363855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Example</a:t>
            </a:r>
            <a:endParaRPr lang="en-US" sz="2100"/>
          </a:p>
        </p:txBody>
      </p:sp>
      <p:sp>
        <p:nvSpPr>
          <p:cNvPr id="16" name="Card Body"/>
          <p:cNvSpPr txBox="1"/>
          <p:nvPr/>
        </p:nvSpPr>
        <p:spPr>
          <a:xfrm>
            <a:off x="895350" y="411480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A1: Student Name</a:t>
            </a:r>
            <a:endParaRPr lang="en-US" sz="1700"/>
          </a:p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A2: Maria Santos</a:t>
            </a:r>
            <a:endParaRPr lang="en-US" sz="1700"/>
          </a:p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A3: Juan Dela Cruz</a:t>
            </a:r>
            <a:endParaRPr lang="en-US" sz="1700"/>
          </a:p>
        </p:txBody>
      </p:sp>
      <p:sp>
        <p:nvSpPr>
          <p:cNvPr id="17" name="Card"/>
          <p:cNvSpPr/>
          <p:nvPr/>
        </p:nvSpPr>
        <p:spPr>
          <a:xfrm>
            <a:off x="4429125" y="342900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18" name="Card Title"/>
          <p:cNvSpPr txBox="1"/>
          <p:nvPr/>
        </p:nvSpPr>
        <p:spPr>
          <a:xfrm>
            <a:off x="4638675" y="363855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Not needed</a:t>
            </a:r>
            <a:endParaRPr lang="en-US" sz="2100"/>
          </a:p>
        </p:txBody>
      </p:sp>
      <p:sp>
        <p:nvSpPr>
          <p:cNvPr id="19" name="Card Body"/>
          <p:cNvSpPr txBox="1"/>
          <p:nvPr/>
        </p:nvSpPr>
        <p:spPr>
          <a:xfrm>
            <a:off x="4657725" y="411480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Do not type IDs or PINs. ACADexa generates them.</a:t>
            </a:r>
            <a:endParaRPr lang="en-US" sz="1700"/>
          </a:p>
        </p:txBody>
      </p:sp>
      <p:sp>
        <p:nvSpPr>
          <p:cNvPr id="20" name="Card"/>
          <p:cNvSpPr/>
          <p:nvPr/>
        </p:nvSpPr>
        <p:spPr>
          <a:xfrm>
            <a:off x="8191500" y="342900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21" name="Card Title"/>
          <p:cNvSpPr txBox="1"/>
          <p:nvPr/>
        </p:nvSpPr>
        <p:spPr>
          <a:xfrm>
            <a:off x="8401050" y="363855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Class section</a:t>
            </a:r>
            <a:endParaRPr lang="en-US" sz="2100"/>
          </a:p>
        </p:txBody>
      </p:sp>
      <p:sp>
        <p:nvSpPr>
          <p:cNvPr id="22" name="Card Body"/>
          <p:cNvSpPr txBox="1"/>
          <p:nvPr/>
        </p:nvSpPr>
        <p:spPr>
          <a:xfrm>
            <a:off x="8420100" y="411480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Choose/type the section in the app before importing.</a:t>
            </a:r>
            <a:endParaRPr lang="en-US" sz="1700"/>
          </a:p>
        </p:txBody>
      </p:sp>
      <p:sp>
        <p:nvSpPr>
          <p:cNvPr id="50" name="Footer"/>
          <p:cNvSpPr txBox="1"/>
          <p:nvPr/>
        </p:nvSpPr>
        <p:spPr>
          <a:xfrm>
            <a:off x="666750" y="6096000"/>
            <a:ext cx="10287000" cy="3619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t"/>
          <a:lstStyle/>
          <a:p>
            <a:pPr algn="c"/>
            <a:r>
              <a:rPr lang="en-US" sz="1800" dirty="0" b="1">
                <a:solidFill>
                  <a:srgbClr val="0F766E"/>
                </a:solidFill>
                <a:latin typeface="Aptos"/>
              </a:rPr>
              <a:t>Simple rule: first sheet, first column, student names.</a:t>
            </a:r>
            <a:endParaRPr 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8105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23875" y="209550"/>
            <a:ext cx="8858250" cy="4000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Aptos"/>
              </a:rPr>
              <a:t>Roster Format: CSV (.csv)</a:t>
            </a:r>
            <a:endParaRPr lang="en-US" sz="2800"/>
          </a:p>
        </p:txBody>
      </p:sp>
      <p:sp>
        <p:nvSpPr>
          <p:cNvPr id="4" name="Slide No"/>
          <p:cNvSpPr/>
          <p:nvPr/>
        </p:nvSpPr>
        <p:spPr>
          <a:xfrm>
            <a:off x="11191875" y="171450"/>
            <a:ext cx="438150" cy="43815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>
                <a:solidFill>
                  <a:srgbClr val="111827"/>
                </a:solidFill>
              </a:rPr>
              <a:t>9</a:t>
            </a:r>
          </a:p>
        </p:txBody>
      </p:sp>
      <p:sp>
        <p:nvSpPr>
          <p:cNvPr id="5" name="Card"/>
          <p:cNvSpPr/>
          <p:nvPr/>
        </p:nvSpPr>
        <p:spPr>
          <a:xfrm>
            <a:off x="666750" y="1238250"/>
            <a:ext cx="3238500" cy="1762125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</a:ln>
        </p:spPr>
      </p:sp>
      <p:sp>
        <p:nvSpPr>
          <p:cNvPr id="6" name="Card Title"/>
          <p:cNvSpPr txBox="1"/>
          <p:nvPr/>
        </p:nvSpPr>
        <p:spPr>
          <a:xfrm>
            <a:off x="876300" y="1447800"/>
            <a:ext cx="2857500" cy="4191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Accepted file</a:t>
            </a:r>
            <a:endParaRPr lang="en-US" sz="2100"/>
          </a:p>
        </p:txBody>
      </p:sp>
      <p:sp>
        <p:nvSpPr>
          <p:cNvPr id="7" name="Card Body"/>
          <p:cNvSpPr txBox="1"/>
          <p:nvPr/>
        </p:nvSpPr>
        <p:spPr>
          <a:xfrm>
            <a:off x="895350" y="1924050"/>
            <a:ext cx="2781300" cy="914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Use a .csv file.</a:t>
            </a:r>
            <a:endParaRPr lang="en-US" sz="1700"/>
          </a:p>
        </p:txBody>
      </p:sp>
      <p:sp>
        <p:nvSpPr>
          <p:cNvPr id="8" name="Card"/>
          <p:cNvSpPr/>
          <p:nvPr/>
        </p:nvSpPr>
        <p:spPr>
          <a:xfrm>
            <a:off x="4429125" y="1238250"/>
            <a:ext cx="3238500" cy="1762125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5E7EB"/>
            </a:solidFill>
          </a:ln>
        </p:spPr>
      </p:sp>
      <p:sp>
        <p:nvSpPr>
          <p:cNvPr id="9" name="Card Title"/>
          <p:cNvSpPr txBox="1"/>
          <p:nvPr/>
        </p:nvSpPr>
        <p:spPr>
          <a:xfrm>
            <a:off x="4638675" y="1447800"/>
            <a:ext cx="2857500" cy="4191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Header row</a:t>
            </a:r>
            <a:endParaRPr lang="en-US" sz="2100"/>
          </a:p>
        </p:txBody>
      </p:sp>
      <p:sp>
        <p:nvSpPr>
          <p:cNvPr id="10" name="Card Body"/>
          <p:cNvSpPr txBox="1"/>
          <p:nvPr/>
        </p:nvSpPr>
        <p:spPr>
          <a:xfrm>
            <a:off x="4657725" y="1924050"/>
            <a:ext cx="2781300" cy="9144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First line is skipped. Example: Student Name.</a:t>
            </a:r>
            <a:endParaRPr lang="en-US" sz="1700"/>
          </a:p>
        </p:txBody>
      </p:sp>
      <p:sp>
        <p:nvSpPr>
          <p:cNvPr id="11" name="Card"/>
          <p:cNvSpPr/>
          <p:nvPr/>
        </p:nvSpPr>
        <p:spPr>
          <a:xfrm>
            <a:off x="8191500" y="1238250"/>
            <a:ext cx="3238500" cy="1762125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5E7EB"/>
            </a:solidFill>
          </a:ln>
        </p:spPr>
      </p:sp>
      <p:sp>
        <p:nvSpPr>
          <p:cNvPr id="12" name="Card Title"/>
          <p:cNvSpPr txBox="1"/>
          <p:nvPr/>
        </p:nvSpPr>
        <p:spPr>
          <a:xfrm>
            <a:off x="8401050" y="1447800"/>
            <a:ext cx="2857500" cy="4191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First column</a:t>
            </a:r>
            <a:endParaRPr lang="en-US" sz="2100"/>
          </a:p>
        </p:txBody>
      </p:sp>
      <p:sp>
        <p:nvSpPr>
          <p:cNvPr id="13" name="Card Body"/>
          <p:cNvSpPr txBox="1"/>
          <p:nvPr/>
        </p:nvSpPr>
        <p:spPr>
          <a:xfrm>
            <a:off x="8420100" y="1924050"/>
            <a:ext cx="2781300" cy="914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The app reads the first value on each line as the full name.</a:t>
            </a:r>
            <a:endParaRPr lang="en-US" sz="1700"/>
          </a:p>
        </p:txBody>
      </p:sp>
      <p:sp>
        <p:nvSpPr>
          <p:cNvPr id="14" name="Card"/>
          <p:cNvSpPr/>
          <p:nvPr/>
        </p:nvSpPr>
        <p:spPr>
          <a:xfrm>
            <a:off x="666750" y="342900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15" name="Card Title"/>
          <p:cNvSpPr txBox="1"/>
          <p:nvPr/>
        </p:nvSpPr>
        <p:spPr>
          <a:xfrm>
            <a:off x="876300" y="363855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Example</a:t>
            </a:r>
            <a:endParaRPr lang="en-US" sz="2100"/>
          </a:p>
        </p:txBody>
      </p:sp>
      <p:sp>
        <p:nvSpPr>
          <p:cNvPr id="16" name="Card Body"/>
          <p:cNvSpPr txBox="1"/>
          <p:nvPr/>
        </p:nvSpPr>
        <p:spPr>
          <a:xfrm>
            <a:off x="895350" y="411480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Student Name</a:t>
            </a:r>
            <a:endParaRPr lang="en-US" sz="1700"/>
          </a:p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Maria Santos</a:t>
            </a:r>
            <a:endParaRPr lang="en-US" sz="1700"/>
          </a:p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Juan Dela Cruz</a:t>
            </a:r>
            <a:endParaRPr lang="en-US" sz="1700"/>
          </a:p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Ana Reyes</a:t>
            </a:r>
            <a:endParaRPr lang="en-US" sz="1700"/>
          </a:p>
        </p:txBody>
      </p:sp>
      <p:sp>
        <p:nvSpPr>
          <p:cNvPr id="17" name="Card"/>
          <p:cNvSpPr/>
          <p:nvPr/>
        </p:nvSpPr>
        <p:spPr>
          <a:xfrm>
            <a:off x="4429125" y="342900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18" name="Card Title"/>
          <p:cNvSpPr txBox="1"/>
          <p:nvPr/>
        </p:nvSpPr>
        <p:spPr>
          <a:xfrm>
            <a:off x="4638675" y="363855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Avoid commas</a:t>
            </a:r>
            <a:endParaRPr lang="en-US" sz="2100"/>
          </a:p>
        </p:txBody>
      </p:sp>
      <p:sp>
        <p:nvSpPr>
          <p:cNvPr id="19" name="Card Body"/>
          <p:cNvSpPr txBox="1"/>
          <p:nvPr/>
        </p:nvSpPr>
        <p:spPr>
          <a:xfrm>
            <a:off x="4657725" y="411480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Do not put commas inside student names.</a:t>
            </a:r>
            <a:endParaRPr lang="en-US" sz="1700"/>
          </a:p>
        </p:txBody>
      </p:sp>
      <p:sp>
        <p:nvSpPr>
          <p:cNvPr id="20" name="Card"/>
          <p:cNvSpPr/>
          <p:nvPr/>
        </p:nvSpPr>
        <p:spPr>
          <a:xfrm>
            <a:off x="8191500" y="342900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21" name="Card Title"/>
          <p:cNvSpPr txBox="1"/>
          <p:nvPr/>
        </p:nvSpPr>
        <p:spPr>
          <a:xfrm>
            <a:off x="8401050" y="363855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Auto details</a:t>
            </a:r>
            <a:endParaRPr lang="en-US" sz="2100"/>
          </a:p>
        </p:txBody>
      </p:sp>
      <p:sp>
        <p:nvSpPr>
          <p:cNvPr id="22" name="Card Body"/>
          <p:cNvSpPr txBox="1"/>
          <p:nvPr/>
        </p:nvSpPr>
        <p:spPr>
          <a:xfrm>
            <a:off x="8420100" y="411480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Student IDs and PINs are generated by the app.</a:t>
            </a:r>
            <a:endParaRPr lang="en-US" sz="1700"/>
          </a:p>
        </p:txBody>
      </p:sp>
      <p:sp>
        <p:nvSpPr>
          <p:cNvPr id="50" name="Footer"/>
          <p:cNvSpPr txBox="1"/>
          <p:nvPr/>
        </p:nvSpPr>
        <p:spPr>
          <a:xfrm>
            <a:off x="666750" y="6096000"/>
            <a:ext cx="10287000" cy="3619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t"/>
          <a:lstStyle/>
          <a:p>
            <a:pPr algn="c"/>
            <a:r>
              <a:rPr lang="en-US" sz="1800" dirty="0" b="1">
                <a:solidFill>
                  <a:srgbClr val="0F766E"/>
                </a:solidFill>
                <a:latin typeface="Aptos"/>
              </a:rPr>
              <a:t>Keep the CSV clean and simple.</a:t>
            </a:r>
            <a:endParaRPr 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8105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23875" y="209550"/>
            <a:ext cx="8858250" cy="4000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Aptos"/>
              </a:rPr>
              <a:t>Step 4: Prepare the Exam</a:t>
            </a:r>
            <a:endParaRPr lang="en-US" sz="2800"/>
          </a:p>
        </p:txBody>
      </p:sp>
      <p:sp>
        <p:nvSpPr>
          <p:cNvPr id="4" name="Slide No"/>
          <p:cNvSpPr/>
          <p:nvPr/>
        </p:nvSpPr>
        <p:spPr>
          <a:xfrm>
            <a:off x="11191875" y="171450"/>
            <a:ext cx="438150" cy="43815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>
                <a:solidFill>
                  <a:srgbClr val="111827"/>
                </a:solidFill>
              </a:rPr>
              <a:t>10</a:t>
            </a:r>
          </a:p>
        </p:txBody>
      </p:sp>
      <p:sp>
        <p:nvSpPr>
          <p:cNvPr id="5" name="Card"/>
          <p:cNvSpPr/>
          <p:nvPr/>
        </p:nvSpPr>
        <p:spPr>
          <a:xfrm>
            <a:off x="666750" y="1238250"/>
            <a:ext cx="3238500" cy="1762125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E5E7EB"/>
            </a:solidFill>
          </a:ln>
        </p:spPr>
      </p:sp>
      <p:sp>
        <p:nvSpPr>
          <p:cNvPr id="6" name="Card Title"/>
          <p:cNvSpPr txBox="1"/>
          <p:nvPr/>
        </p:nvSpPr>
        <p:spPr>
          <a:xfrm>
            <a:off x="876300" y="1447800"/>
            <a:ext cx="2857500" cy="41910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Choose section</a:t>
            </a:r>
            <a:endParaRPr lang="en-US" sz="2100"/>
          </a:p>
        </p:txBody>
      </p:sp>
      <p:sp>
        <p:nvSpPr>
          <p:cNvPr id="7" name="Card Body"/>
          <p:cNvSpPr txBox="1"/>
          <p:nvPr/>
        </p:nvSpPr>
        <p:spPr>
          <a:xfrm>
            <a:off x="895350" y="1924050"/>
            <a:ext cx="2781300" cy="91440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Select the class or section that will take the exam.</a:t>
            </a:r>
            <a:endParaRPr lang="en-US" sz="1700"/>
          </a:p>
        </p:txBody>
      </p:sp>
      <p:sp>
        <p:nvSpPr>
          <p:cNvPr id="8" name="Card"/>
          <p:cNvSpPr/>
          <p:nvPr/>
        </p:nvSpPr>
        <p:spPr>
          <a:xfrm>
            <a:off x="4429125" y="1238250"/>
            <a:ext cx="3238500" cy="1762125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5E7EB"/>
            </a:solidFill>
          </a:ln>
        </p:spPr>
      </p:sp>
      <p:sp>
        <p:nvSpPr>
          <p:cNvPr id="9" name="Card Title"/>
          <p:cNvSpPr txBox="1"/>
          <p:nvPr/>
        </p:nvSpPr>
        <p:spPr>
          <a:xfrm>
            <a:off x="4638675" y="1447800"/>
            <a:ext cx="2857500" cy="4191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Exam title</a:t>
            </a:r>
            <a:endParaRPr lang="en-US" sz="2100"/>
          </a:p>
        </p:txBody>
      </p:sp>
      <p:sp>
        <p:nvSpPr>
          <p:cNvPr id="10" name="Card Body"/>
          <p:cNvSpPr txBox="1"/>
          <p:nvPr/>
        </p:nvSpPr>
        <p:spPr>
          <a:xfrm>
            <a:off x="4657725" y="1924050"/>
            <a:ext cx="2781300" cy="9144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Type a title. If it does not end in .pdf, the app adds .pdf.</a:t>
            </a:r>
            <a:endParaRPr lang="en-US" sz="1700"/>
          </a:p>
        </p:txBody>
      </p:sp>
      <p:sp>
        <p:nvSpPr>
          <p:cNvPr id="11" name="Card"/>
          <p:cNvSpPr/>
          <p:nvPr/>
        </p:nvSpPr>
        <p:spPr>
          <a:xfrm>
            <a:off x="8191500" y="1238250"/>
            <a:ext cx="3238500" cy="1762125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5E7EB"/>
            </a:solidFill>
          </a:ln>
        </p:spPr>
      </p:sp>
      <p:sp>
        <p:nvSpPr>
          <p:cNvPr id="12" name="Card Title"/>
          <p:cNvSpPr txBox="1"/>
          <p:nvPr/>
        </p:nvSpPr>
        <p:spPr>
          <a:xfrm>
            <a:off x="8401050" y="1447800"/>
            <a:ext cx="2857500" cy="4191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Time limit</a:t>
            </a:r>
            <a:endParaRPr lang="en-US" sz="2100"/>
          </a:p>
        </p:txBody>
      </p:sp>
      <p:sp>
        <p:nvSpPr>
          <p:cNvPr id="13" name="Card Body"/>
          <p:cNvSpPr txBox="1"/>
          <p:nvPr/>
        </p:nvSpPr>
        <p:spPr>
          <a:xfrm>
            <a:off x="8420100" y="1924050"/>
            <a:ext cx="2781300" cy="914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Enter minutes. If blank, the dashboard uses 60 minutes.</a:t>
            </a:r>
            <a:endParaRPr lang="en-US" sz="1700"/>
          </a:p>
        </p:txBody>
      </p:sp>
      <p:sp>
        <p:nvSpPr>
          <p:cNvPr id="14" name="Card"/>
          <p:cNvSpPr/>
          <p:nvPr/>
        </p:nvSpPr>
        <p:spPr>
          <a:xfrm>
            <a:off x="666750" y="342900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15" name="Card Title"/>
          <p:cNvSpPr txBox="1"/>
          <p:nvPr/>
        </p:nvSpPr>
        <p:spPr>
          <a:xfrm>
            <a:off x="876300" y="363855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Browse PDF</a:t>
            </a:r>
            <a:endParaRPr lang="en-US" sz="2100"/>
          </a:p>
        </p:txBody>
      </p:sp>
      <p:sp>
        <p:nvSpPr>
          <p:cNvPr id="16" name="Card Body"/>
          <p:cNvSpPr txBox="1"/>
          <p:nvPr/>
        </p:nvSpPr>
        <p:spPr>
          <a:xfrm>
            <a:off x="895350" y="411480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Select the exam PDF file.</a:t>
            </a:r>
            <a:endParaRPr lang="en-US" sz="1700"/>
          </a:p>
        </p:txBody>
      </p:sp>
      <p:sp>
        <p:nvSpPr>
          <p:cNvPr id="17" name="Card"/>
          <p:cNvSpPr/>
          <p:nvPr/>
        </p:nvSpPr>
        <p:spPr>
          <a:xfrm>
            <a:off x="4429125" y="342900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18" name="Card Title"/>
          <p:cNvSpPr txBox="1"/>
          <p:nvPr/>
        </p:nvSpPr>
        <p:spPr>
          <a:xfrm>
            <a:off x="4638675" y="363855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Answer key</a:t>
            </a:r>
            <a:endParaRPr lang="en-US" sz="2100"/>
          </a:p>
        </p:txBody>
      </p:sp>
      <p:sp>
        <p:nvSpPr>
          <p:cNvPr id="19" name="Card Body"/>
          <p:cNvSpPr txBox="1"/>
          <p:nvPr/>
        </p:nvSpPr>
        <p:spPr>
          <a:xfrm>
            <a:off x="4657725" y="411480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Type or upload the correct answers.</a:t>
            </a:r>
            <a:endParaRPr lang="en-US" sz="1700"/>
          </a:p>
        </p:txBody>
      </p:sp>
      <p:sp>
        <p:nvSpPr>
          <p:cNvPr id="20" name="Card"/>
          <p:cNvSpPr/>
          <p:nvPr/>
        </p:nvSpPr>
        <p:spPr>
          <a:xfrm>
            <a:off x="8191500" y="342900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21" name="Card Title"/>
          <p:cNvSpPr txBox="1"/>
          <p:nvPr/>
        </p:nvSpPr>
        <p:spPr>
          <a:xfrm>
            <a:off x="8401050" y="363855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Save exam</a:t>
            </a:r>
            <a:endParaRPr lang="en-US" sz="2100"/>
          </a:p>
        </p:txBody>
      </p:sp>
      <p:sp>
        <p:nvSpPr>
          <p:cNvPr id="22" name="Card Body"/>
          <p:cNvSpPr txBox="1"/>
          <p:nvPr/>
        </p:nvSpPr>
        <p:spPr>
          <a:xfrm>
            <a:off x="8420100" y="411480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The app saves the exam and prepares the QR code.</a:t>
            </a:r>
            <a:endParaRPr lang="en-US" sz="1700"/>
          </a:p>
        </p:txBody>
      </p:sp>
      <p:sp>
        <p:nvSpPr>
          <p:cNvPr id="50" name="Footer"/>
          <p:cNvSpPr txBox="1"/>
          <p:nvPr/>
        </p:nvSpPr>
        <p:spPr>
          <a:xfrm>
            <a:off x="666750" y="6096000"/>
            <a:ext cx="10287000" cy="3619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t"/>
          <a:lstStyle/>
          <a:p>
            <a:pPr algn="c"/>
            <a:r>
              <a:rPr lang="en-US" sz="1800" dirty="0" b="1">
                <a:solidFill>
                  <a:srgbClr val="0F766E"/>
                </a:solidFill>
                <a:latin typeface="Aptos"/>
              </a:rPr>
              <a:t>This is where the teacher turns a quiz into a digital activity.</a:t>
            </a:r>
            <a:endParaRPr 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8105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23875" y="209550"/>
            <a:ext cx="8858250" cy="4000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Aptos"/>
              </a:rPr>
              <a:t>PDF Format for the Exam</a:t>
            </a:r>
            <a:endParaRPr lang="en-US" sz="2800"/>
          </a:p>
        </p:txBody>
      </p:sp>
      <p:sp>
        <p:nvSpPr>
          <p:cNvPr id="4" name="Slide No"/>
          <p:cNvSpPr/>
          <p:nvPr/>
        </p:nvSpPr>
        <p:spPr>
          <a:xfrm>
            <a:off x="11191875" y="171450"/>
            <a:ext cx="438150" cy="43815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>
                <a:solidFill>
                  <a:srgbClr val="111827"/>
                </a:solidFill>
              </a:rPr>
              <a:t>11</a:t>
            </a:r>
          </a:p>
        </p:txBody>
      </p:sp>
      <p:sp>
        <p:nvSpPr>
          <p:cNvPr id="5" name="Card"/>
          <p:cNvSpPr/>
          <p:nvPr/>
        </p:nvSpPr>
        <p:spPr>
          <a:xfrm>
            <a:off x="666750" y="1238250"/>
            <a:ext cx="3238500" cy="1762125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</a:ln>
        </p:spPr>
      </p:sp>
      <p:sp>
        <p:nvSpPr>
          <p:cNvPr id="6" name="Card Title"/>
          <p:cNvSpPr txBox="1"/>
          <p:nvPr/>
        </p:nvSpPr>
        <p:spPr>
          <a:xfrm>
            <a:off x="876300" y="1447800"/>
            <a:ext cx="2857500" cy="4191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Accepted file</a:t>
            </a:r>
            <a:endParaRPr lang="en-US" sz="2100"/>
          </a:p>
        </p:txBody>
      </p:sp>
      <p:sp>
        <p:nvSpPr>
          <p:cNvPr id="7" name="Card Body"/>
          <p:cNvSpPr txBox="1"/>
          <p:nvPr/>
        </p:nvSpPr>
        <p:spPr>
          <a:xfrm>
            <a:off x="895350" y="1924050"/>
            <a:ext cx="2781300" cy="914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Use a normal .pdf file.</a:t>
            </a:r>
            <a:endParaRPr lang="en-US" sz="1700"/>
          </a:p>
        </p:txBody>
      </p:sp>
      <p:sp>
        <p:nvSpPr>
          <p:cNvPr id="8" name="Card"/>
          <p:cNvSpPr/>
          <p:nvPr/>
        </p:nvSpPr>
        <p:spPr>
          <a:xfrm>
            <a:off x="4429125" y="1238250"/>
            <a:ext cx="3238500" cy="1762125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5E7EB"/>
            </a:solidFill>
          </a:ln>
        </p:spPr>
      </p:sp>
      <p:sp>
        <p:nvSpPr>
          <p:cNvPr id="9" name="Card Title"/>
          <p:cNvSpPr txBox="1"/>
          <p:nvPr/>
        </p:nvSpPr>
        <p:spPr>
          <a:xfrm>
            <a:off x="4638675" y="1447800"/>
            <a:ext cx="2857500" cy="4191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Clear questions</a:t>
            </a:r>
            <a:endParaRPr lang="en-US" sz="2100"/>
          </a:p>
        </p:txBody>
      </p:sp>
      <p:sp>
        <p:nvSpPr>
          <p:cNvPr id="10" name="Card Body"/>
          <p:cNvSpPr txBox="1"/>
          <p:nvPr/>
        </p:nvSpPr>
        <p:spPr>
          <a:xfrm>
            <a:off x="4657725" y="1924050"/>
            <a:ext cx="2781300" cy="9144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Number questions clearly: 1, 2, 3, and so on.</a:t>
            </a:r>
            <a:endParaRPr lang="en-US" sz="1700"/>
          </a:p>
        </p:txBody>
      </p:sp>
      <p:sp>
        <p:nvSpPr>
          <p:cNvPr id="11" name="Card"/>
          <p:cNvSpPr/>
          <p:nvPr/>
        </p:nvSpPr>
        <p:spPr>
          <a:xfrm>
            <a:off x="8191500" y="1238250"/>
            <a:ext cx="3238500" cy="1762125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5E7EB"/>
            </a:solidFill>
          </a:ln>
        </p:spPr>
      </p:sp>
      <p:sp>
        <p:nvSpPr>
          <p:cNvPr id="12" name="Card Title"/>
          <p:cNvSpPr txBox="1"/>
          <p:nvPr/>
        </p:nvSpPr>
        <p:spPr>
          <a:xfrm>
            <a:off x="8401050" y="1447800"/>
            <a:ext cx="2857500" cy="4191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Match answer key</a:t>
            </a:r>
            <a:endParaRPr lang="en-US" sz="2100"/>
          </a:p>
        </p:txBody>
      </p:sp>
      <p:sp>
        <p:nvSpPr>
          <p:cNvPr id="13" name="Card Body"/>
          <p:cNvSpPr txBox="1"/>
          <p:nvPr/>
        </p:nvSpPr>
        <p:spPr>
          <a:xfrm>
            <a:off x="8420100" y="1924050"/>
            <a:ext cx="2781300" cy="914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The number of questions should match the number of letters in the answer key.</a:t>
            </a:r>
            <a:endParaRPr lang="en-US" sz="1700"/>
          </a:p>
        </p:txBody>
      </p:sp>
      <p:sp>
        <p:nvSpPr>
          <p:cNvPr id="14" name="Card"/>
          <p:cNvSpPr/>
          <p:nvPr/>
        </p:nvSpPr>
        <p:spPr>
          <a:xfrm>
            <a:off x="666750" y="342900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15" name="Card Title"/>
          <p:cNvSpPr txBox="1"/>
          <p:nvPr/>
        </p:nvSpPr>
        <p:spPr>
          <a:xfrm>
            <a:off x="876300" y="363855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Readable file</a:t>
            </a:r>
            <a:endParaRPr lang="en-US" sz="2100"/>
          </a:p>
        </p:txBody>
      </p:sp>
      <p:sp>
        <p:nvSpPr>
          <p:cNvPr id="16" name="Card Body"/>
          <p:cNvSpPr txBox="1"/>
          <p:nvPr/>
        </p:nvSpPr>
        <p:spPr>
          <a:xfrm>
            <a:off x="895350" y="411480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Use clear text, good spacing, and readable images if needed.</a:t>
            </a:r>
            <a:endParaRPr lang="en-US" sz="1700"/>
          </a:p>
        </p:txBody>
      </p:sp>
      <p:sp>
        <p:nvSpPr>
          <p:cNvPr id="17" name="Card"/>
          <p:cNvSpPr/>
          <p:nvPr/>
        </p:nvSpPr>
        <p:spPr>
          <a:xfrm>
            <a:off x="4429125" y="342900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18" name="Card Title"/>
          <p:cNvSpPr txBox="1"/>
          <p:nvPr/>
        </p:nvSpPr>
        <p:spPr>
          <a:xfrm>
            <a:off x="4638675" y="363855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File copy</a:t>
            </a:r>
            <a:endParaRPr lang="en-US" sz="2100"/>
          </a:p>
        </p:txBody>
      </p:sp>
      <p:sp>
        <p:nvSpPr>
          <p:cNvPr id="19" name="Card Body"/>
          <p:cNvSpPr txBox="1"/>
          <p:nvPr/>
        </p:nvSpPr>
        <p:spPr>
          <a:xfrm>
            <a:off x="4657725" y="411480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ACADexa copies the PDF to the local quiz system folder.</a:t>
            </a:r>
            <a:endParaRPr lang="en-US" sz="1700"/>
          </a:p>
        </p:txBody>
      </p:sp>
      <p:sp>
        <p:nvSpPr>
          <p:cNvPr id="20" name="Card"/>
          <p:cNvSpPr/>
          <p:nvPr/>
        </p:nvSpPr>
        <p:spPr>
          <a:xfrm>
            <a:off x="8191500" y="342900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21" name="Card Title"/>
          <p:cNvSpPr txBox="1"/>
          <p:nvPr/>
        </p:nvSpPr>
        <p:spPr>
          <a:xfrm>
            <a:off x="8401050" y="363855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Good title</a:t>
            </a:r>
            <a:endParaRPr lang="en-US" sz="2100"/>
          </a:p>
        </p:txBody>
      </p:sp>
      <p:sp>
        <p:nvSpPr>
          <p:cNvPr id="22" name="Card Body"/>
          <p:cNvSpPr txBox="1"/>
          <p:nvPr/>
        </p:nvSpPr>
        <p:spPr>
          <a:xfrm>
            <a:off x="8420100" y="411480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Use simple file names like MathQuiz1.pdf.</a:t>
            </a:r>
            <a:endParaRPr lang="en-US" sz="1700"/>
          </a:p>
        </p:txBody>
      </p:sp>
      <p:sp>
        <p:nvSpPr>
          <p:cNvPr id="50" name="Footer"/>
          <p:cNvSpPr txBox="1"/>
          <p:nvPr/>
        </p:nvSpPr>
        <p:spPr>
          <a:xfrm>
            <a:off x="666750" y="6096000"/>
            <a:ext cx="10287000" cy="3619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t"/>
          <a:lstStyle/>
          <a:p>
            <a:pPr algn="c"/>
            <a:r>
              <a:rPr lang="en-US" sz="1800" dirty="0" b="1">
                <a:solidFill>
                  <a:srgbClr val="0F766E"/>
                </a:solidFill>
                <a:latin typeface="Aptos"/>
              </a:rPr>
              <a:t>The PDF is what students will read while answering.</a:t>
            </a:r>
            <a:endParaRPr 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8105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23875" y="209550"/>
            <a:ext cx="8858250" cy="4000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Aptos"/>
              </a:rPr>
              <a:t>Answer Key / Note Format (.txt)</a:t>
            </a:r>
            <a:endParaRPr lang="en-US" sz="2800"/>
          </a:p>
        </p:txBody>
      </p:sp>
      <p:sp>
        <p:nvSpPr>
          <p:cNvPr id="4" name="Slide No"/>
          <p:cNvSpPr/>
          <p:nvPr/>
        </p:nvSpPr>
        <p:spPr>
          <a:xfrm>
            <a:off x="11191875" y="171450"/>
            <a:ext cx="438150" cy="43815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>
                <a:solidFill>
                  <a:srgbClr val="111827"/>
                </a:solidFill>
              </a:rPr>
              <a:t>12</a:t>
            </a:r>
          </a:p>
        </p:txBody>
      </p:sp>
      <p:sp>
        <p:nvSpPr>
          <p:cNvPr id="5" name="Card"/>
          <p:cNvSpPr/>
          <p:nvPr/>
        </p:nvSpPr>
        <p:spPr>
          <a:xfrm>
            <a:off x="666750" y="1238250"/>
            <a:ext cx="3238500" cy="1762125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</a:ln>
        </p:spPr>
      </p:sp>
      <p:sp>
        <p:nvSpPr>
          <p:cNvPr id="6" name="Card Title"/>
          <p:cNvSpPr txBox="1"/>
          <p:nvPr/>
        </p:nvSpPr>
        <p:spPr>
          <a:xfrm>
            <a:off x="876300" y="1447800"/>
            <a:ext cx="2857500" cy="4191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Accepted file</a:t>
            </a:r>
            <a:endParaRPr lang="en-US" sz="2100"/>
          </a:p>
        </p:txBody>
      </p:sp>
      <p:sp>
        <p:nvSpPr>
          <p:cNvPr id="7" name="Card Body"/>
          <p:cNvSpPr txBox="1"/>
          <p:nvPr/>
        </p:nvSpPr>
        <p:spPr>
          <a:xfrm>
            <a:off x="895350" y="1924050"/>
            <a:ext cx="2781300" cy="914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Use a .txt text file, or type the key directly in the answer key box.</a:t>
            </a:r>
            <a:endParaRPr lang="en-US" sz="1700"/>
          </a:p>
        </p:txBody>
      </p:sp>
      <p:sp>
        <p:nvSpPr>
          <p:cNvPr id="8" name="Card"/>
          <p:cNvSpPr/>
          <p:nvPr/>
        </p:nvSpPr>
        <p:spPr>
          <a:xfrm>
            <a:off x="4429125" y="1238250"/>
            <a:ext cx="3238500" cy="1762125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5E7EB"/>
            </a:solidFill>
          </a:ln>
        </p:spPr>
      </p:sp>
      <p:sp>
        <p:nvSpPr>
          <p:cNvPr id="9" name="Card Title"/>
          <p:cNvSpPr txBox="1"/>
          <p:nvPr/>
        </p:nvSpPr>
        <p:spPr>
          <a:xfrm>
            <a:off x="4638675" y="1447800"/>
            <a:ext cx="2857500" cy="4191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Simple format</a:t>
            </a:r>
            <a:endParaRPr lang="en-US" sz="2100"/>
          </a:p>
        </p:txBody>
      </p:sp>
      <p:sp>
        <p:nvSpPr>
          <p:cNvPr id="10" name="Card Body"/>
          <p:cNvSpPr txBox="1"/>
          <p:nvPr/>
        </p:nvSpPr>
        <p:spPr>
          <a:xfrm>
            <a:off x="4657725" y="1924050"/>
            <a:ext cx="2781300" cy="9144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Best format: ABCDBACD, with one letter per question.</a:t>
            </a:r>
            <a:endParaRPr lang="en-US" sz="1700"/>
          </a:p>
        </p:txBody>
      </p:sp>
      <p:sp>
        <p:nvSpPr>
          <p:cNvPr id="11" name="Card"/>
          <p:cNvSpPr/>
          <p:nvPr/>
        </p:nvSpPr>
        <p:spPr>
          <a:xfrm>
            <a:off x="8191500" y="1238250"/>
            <a:ext cx="3238500" cy="1762125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5E7EB"/>
            </a:solidFill>
          </a:ln>
        </p:spPr>
      </p:sp>
      <p:sp>
        <p:nvSpPr>
          <p:cNvPr id="12" name="Card Title"/>
          <p:cNvSpPr txBox="1"/>
          <p:nvPr/>
        </p:nvSpPr>
        <p:spPr>
          <a:xfrm>
            <a:off x="8401050" y="1447800"/>
            <a:ext cx="2857500" cy="4191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Also works</a:t>
            </a:r>
            <a:endParaRPr lang="en-US" sz="2100"/>
          </a:p>
        </p:txBody>
      </p:sp>
      <p:sp>
        <p:nvSpPr>
          <p:cNvPr id="13" name="Card Body"/>
          <p:cNvSpPr txBox="1"/>
          <p:nvPr/>
        </p:nvSpPr>
        <p:spPr>
          <a:xfrm>
            <a:off x="8420100" y="1924050"/>
            <a:ext cx="2781300" cy="914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Spaces or numbers are removed, so 1-A 2-B becomes AB.</a:t>
            </a:r>
            <a:endParaRPr lang="en-US" sz="1700"/>
          </a:p>
        </p:txBody>
      </p:sp>
      <p:sp>
        <p:nvSpPr>
          <p:cNvPr id="14" name="Card"/>
          <p:cNvSpPr/>
          <p:nvPr/>
        </p:nvSpPr>
        <p:spPr>
          <a:xfrm>
            <a:off x="666750" y="342900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15" name="Card Title"/>
          <p:cNvSpPr txBox="1"/>
          <p:nvPr/>
        </p:nvSpPr>
        <p:spPr>
          <a:xfrm>
            <a:off x="876300" y="363855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Use letters</a:t>
            </a:r>
            <a:endParaRPr lang="en-US" sz="2100"/>
          </a:p>
        </p:txBody>
      </p:sp>
      <p:sp>
        <p:nvSpPr>
          <p:cNvPr id="16" name="Card Body"/>
          <p:cNvSpPr txBox="1"/>
          <p:nvPr/>
        </p:nvSpPr>
        <p:spPr>
          <a:xfrm>
            <a:off x="895350" y="411480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The app keeps letters A-Z and removes symbols, spaces, and numbers.</a:t>
            </a:r>
            <a:endParaRPr lang="en-US" sz="1700"/>
          </a:p>
        </p:txBody>
      </p:sp>
      <p:sp>
        <p:nvSpPr>
          <p:cNvPr id="17" name="Card"/>
          <p:cNvSpPr/>
          <p:nvPr/>
        </p:nvSpPr>
        <p:spPr>
          <a:xfrm>
            <a:off x="4429125" y="342900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18" name="Card Title"/>
          <p:cNvSpPr txBox="1"/>
          <p:nvPr/>
        </p:nvSpPr>
        <p:spPr>
          <a:xfrm>
            <a:off x="4638675" y="363855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Question count</a:t>
            </a:r>
            <a:endParaRPr lang="en-US" sz="2100"/>
          </a:p>
        </p:txBody>
      </p:sp>
      <p:sp>
        <p:nvSpPr>
          <p:cNvPr id="19" name="Card Body"/>
          <p:cNvSpPr txBox="1"/>
          <p:nvPr/>
        </p:nvSpPr>
        <p:spPr>
          <a:xfrm>
            <a:off x="4657725" y="411480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If the key has 20 letters, the quiz has 20 questions.</a:t>
            </a:r>
            <a:endParaRPr lang="en-US" sz="1700"/>
          </a:p>
        </p:txBody>
      </p:sp>
      <p:sp>
        <p:nvSpPr>
          <p:cNvPr id="20" name="Card"/>
          <p:cNvSpPr/>
          <p:nvPr/>
        </p:nvSpPr>
        <p:spPr>
          <a:xfrm>
            <a:off x="8191500" y="342900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21" name="Card Title"/>
          <p:cNvSpPr txBox="1"/>
          <p:nvPr/>
        </p:nvSpPr>
        <p:spPr>
          <a:xfrm>
            <a:off x="8401050" y="363855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Avoid words</a:t>
            </a:r>
            <a:endParaRPr lang="en-US" sz="2100"/>
          </a:p>
        </p:txBody>
      </p:sp>
      <p:sp>
        <p:nvSpPr>
          <p:cNvPr id="22" name="Card Body"/>
          <p:cNvSpPr txBox="1"/>
          <p:nvPr/>
        </p:nvSpPr>
        <p:spPr>
          <a:xfrm>
            <a:off x="8420100" y="411480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Do not write full words like Answer A, because extra letters may be counted.</a:t>
            </a:r>
            <a:endParaRPr lang="en-US" sz="1700"/>
          </a:p>
        </p:txBody>
      </p:sp>
      <p:sp>
        <p:nvSpPr>
          <p:cNvPr id="50" name="Footer"/>
          <p:cNvSpPr txBox="1"/>
          <p:nvPr/>
        </p:nvSpPr>
        <p:spPr>
          <a:xfrm>
            <a:off x="666750" y="6096000"/>
            <a:ext cx="10287000" cy="3619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t"/>
          <a:lstStyle/>
          <a:p>
            <a:pPr algn="c"/>
            <a:r>
              <a:rPr lang="en-US" sz="1800" dirty="0" b="1">
                <a:solidFill>
                  <a:srgbClr val="0F766E"/>
                </a:solidFill>
                <a:latin typeface="Aptos"/>
              </a:rPr>
              <a:t>This is the “note” file that tells the app the correct answers.</a:t>
            </a:r>
            <a:endParaRPr 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8105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23875" y="209550"/>
            <a:ext cx="8858250" cy="4000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Aptos"/>
              </a:rPr>
              <a:t>Step 5: Generate QR / Student Link</a:t>
            </a:r>
            <a:endParaRPr lang="en-US" sz="2800"/>
          </a:p>
        </p:txBody>
      </p:sp>
      <p:sp>
        <p:nvSpPr>
          <p:cNvPr id="4" name="Slide No"/>
          <p:cNvSpPr/>
          <p:nvPr/>
        </p:nvSpPr>
        <p:spPr>
          <a:xfrm>
            <a:off x="11191875" y="171450"/>
            <a:ext cx="438150" cy="43815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>
                <a:solidFill>
                  <a:srgbClr val="111827"/>
                </a:solidFill>
              </a:rPr>
              <a:t>13</a:t>
            </a:r>
          </a:p>
        </p:txBody>
      </p:sp>
      <p:sp>
        <p:nvSpPr>
          <p:cNvPr id="5" name="Card"/>
          <p:cNvSpPr/>
          <p:nvPr/>
        </p:nvSpPr>
        <p:spPr>
          <a:xfrm>
            <a:off x="666750" y="123825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6" name="Card Title"/>
          <p:cNvSpPr txBox="1"/>
          <p:nvPr/>
        </p:nvSpPr>
        <p:spPr>
          <a:xfrm>
            <a:off x="876300" y="144780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Click save</a:t>
            </a:r>
            <a:endParaRPr lang="en-US" sz="2100"/>
          </a:p>
        </p:txBody>
      </p:sp>
      <p:sp>
        <p:nvSpPr>
          <p:cNvPr id="7" name="Card Body"/>
          <p:cNvSpPr txBox="1"/>
          <p:nvPr/>
        </p:nvSpPr>
        <p:spPr>
          <a:xfrm>
            <a:off x="895350" y="192405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After PDF and answer key are ready, save the exam.</a:t>
            </a:r>
            <a:endParaRPr lang="en-US" sz="1700"/>
          </a:p>
        </p:txBody>
      </p:sp>
      <p:sp>
        <p:nvSpPr>
          <p:cNvPr id="8" name="Card"/>
          <p:cNvSpPr/>
          <p:nvPr/>
        </p:nvSpPr>
        <p:spPr>
          <a:xfrm>
            <a:off x="4429125" y="123825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9" name="Card Title"/>
          <p:cNvSpPr txBox="1"/>
          <p:nvPr/>
        </p:nvSpPr>
        <p:spPr>
          <a:xfrm>
            <a:off x="4638675" y="144780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QR appears</a:t>
            </a:r>
            <a:endParaRPr lang="en-US" sz="2100"/>
          </a:p>
        </p:txBody>
      </p:sp>
      <p:sp>
        <p:nvSpPr>
          <p:cNvPr id="10" name="Card Body"/>
          <p:cNvSpPr txBox="1"/>
          <p:nvPr/>
        </p:nvSpPr>
        <p:spPr>
          <a:xfrm>
            <a:off x="4657725" y="192405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ACADexa shows a QR code for that exam.</a:t>
            </a:r>
            <a:endParaRPr lang="en-US" sz="1700"/>
          </a:p>
        </p:txBody>
      </p:sp>
      <p:sp>
        <p:nvSpPr>
          <p:cNvPr id="11" name="Card"/>
          <p:cNvSpPr/>
          <p:nvPr/>
        </p:nvSpPr>
        <p:spPr>
          <a:xfrm>
            <a:off x="8191500" y="123825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12" name="Card Title"/>
          <p:cNvSpPr txBox="1"/>
          <p:nvPr/>
        </p:nvSpPr>
        <p:spPr>
          <a:xfrm>
            <a:off x="8401050" y="144780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Students scan</a:t>
            </a:r>
            <a:endParaRPr lang="en-US" sz="2100"/>
          </a:p>
        </p:txBody>
      </p:sp>
      <p:sp>
        <p:nvSpPr>
          <p:cNvPr id="13" name="Card Body"/>
          <p:cNvSpPr txBox="1"/>
          <p:nvPr/>
        </p:nvSpPr>
        <p:spPr>
          <a:xfrm>
            <a:off x="8420100" y="192405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Students use the QR code or link to open the exam page.</a:t>
            </a:r>
            <a:endParaRPr lang="en-US" sz="1700"/>
          </a:p>
        </p:txBody>
      </p:sp>
      <p:sp>
        <p:nvSpPr>
          <p:cNvPr id="50" name="Footer"/>
          <p:cNvSpPr txBox="1"/>
          <p:nvPr/>
        </p:nvSpPr>
        <p:spPr>
          <a:xfrm>
            <a:off x="666750" y="6096000"/>
            <a:ext cx="10287000" cy="3619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t"/>
          <a:lstStyle/>
          <a:p>
            <a:pPr algn="c"/>
            <a:r>
              <a:rPr lang="en-US" sz="1800" dirty="0" b="1">
                <a:solidFill>
                  <a:srgbClr val="0F766E"/>
                </a:solidFill>
                <a:latin typeface="Aptos"/>
              </a:rPr>
              <a:t>This replaces handing out printed copies.</a:t>
            </a:r>
            <a:endParaRPr 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8105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23875" y="209550"/>
            <a:ext cx="8858250" cy="4000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Aptos"/>
              </a:rPr>
              <a:t>Step 6: Student Answers the Exam</a:t>
            </a:r>
            <a:endParaRPr lang="en-US" sz="2800"/>
          </a:p>
        </p:txBody>
      </p:sp>
      <p:sp>
        <p:nvSpPr>
          <p:cNvPr id="4" name="Slide No"/>
          <p:cNvSpPr/>
          <p:nvPr/>
        </p:nvSpPr>
        <p:spPr>
          <a:xfrm>
            <a:off x="11191875" y="171450"/>
            <a:ext cx="438150" cy="43815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>
                <a:solidFill>
                  <a:srgbClr val="111827"/>
                </a:solidFill>
              </a:rPr>
              <a:t>14</a:t>
            </a:r>
          </a:p>
        </p:txBody>
      </p:sp>
      <p:sp>
        <p:nvSpPr>
          <p:cNvPr id="5" name="Card"/>
          <p:cNvSpPr/>
          <p:nvPr/>
        </p:nvSpPr>
        <p:spPr>
          <a:xfrm>
            <a:off x="666750" y="1238250"/>
            <a:ext cx="3238500" cy="1762125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E5E7EB"/>
            </a:solidFill>
          </a:ln>
        </p:spPr>
      </p:sp>
      <p:sp>
        <p:nvSpPr>
          <p:cNvPr id="6" name="Card Title"/>
          <p:cNvSpPr txBox="1"/>
          <p:nvPr/>
        </p:nvSpPr>
        <p:spPr>
          <a:xfrm>
            <a:off x="876300" y="1447800"/>
            <a:ext cx="2857500" cy="41910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Open page</a:t>
            </a:r>
            <a:endParaRPr lang="en-US" sz="2100"/>
          </a:p>
        </p:txBody>
      </p:sp>
      <p:sp>
        <p:nvSpPr>
          <p:cNvPr id="7" name="Card Body"/>
          <p:cNvSpPr txBox="1"/>
          <p:nvPr/>
        </p:nvSpPr>
        <p:spPr>
          <a:xfrm>
            <a:off x="895350" y="1924050"/>
            <a:ext cx="2781300" cy="91440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Student opens the local quiz page from the teacher network.</a:t>
            </a:r>
            <a:endParaRPr lang="en-US" sz="1700"/>
          </a:p>
        </p:txBody>
      </p:sp>
      <p:sp>
        <p:nvSpPr>
          <p:cNvPr id="8" name="Card"/>
          <p:cNvSpPr/>
          <p:nvPr/>
        </p:nvSpPr>
        <p:spPr>
          <a:xfrm>
            <a:off x="4429125" y="1238250"/>
            <a:ext cx="3238500" cy="1762125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5E7EB"/>
            </a:solidFill>
          </a:ln>
        </p:spPr>
      </p:sp>
      <p:sp>
        <p:nvSpPr>
          <p:cNvPr id="9" name="Card Title"/>
          <p:cNvSpPr txBox="1"/>
          <p:nvPr/>
        </p:nvSpPr>
        <p:spPr>
          <a:xfrm>
            <a:off x="4638675" y="1447800"/>
            <a:ext cx="2857500" cy="4191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Read PDF</a:t>
            </a:r>
            <a:endParaRPr lang="en-US" sz="2100"/>
          </a:p>
        </p:txBody>
      </p:sp>
      <p:sp>
        <p:nvSpPr>
          <p:cNvPr id="10" name="Card Body"/>
          <p:cNvSpPr txBox="1"/>
          <p:nvPr/>
        </p:nvSpPr>
        <p:spPr>
          <a:xfrm>
            <a:off x="4657725" y="1924050"/>
            <a:ext cx="2781300" cy="9144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Student reads the uploaded exam PDF.</a:t>
            </a:r>
            <a:endParaRPr lang="en-US" sz="1700"/>
          </a:p>
        </p:txBody>
      </p:sp>
      <p:sp>
        <p:nvSpPr>
          <p:cNvPr id="11" name="Card"/>
          <p:cNvSpPr/>
          <p:nvPr/>
        </p:nvSpPr>
        <p:spPr>
          <a:xfrm>
            <a:off x="8191500" y="1238250"/>
            <a:ext cx="3238500" cy="1762125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5E7EB"/>
            </a:solidFill>
          </a:ln>
        </p:spPr>
      </p:sp>
      <p:sp>
        <p:nvSpPr>
          <p:cNvPr id="12" name="Card Title"/>
          <p:cNvSpPr txBox="1"/>
          <p:nvPr/>
        </p:nvSpPr>
        <p:spPr>
          <a:xfrm>
            <a:off x="8401050" y="1447800"/>
            <a:ext cx="2857500" cy="4191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Submit answers</a:t>
            </a:r>
            <a:endParaRPr lang="en-US" sz="2100"/>
          </a:p>
        </p:txBody>
      </p:sp>
      <p:sp>
        <p:nvSpPr>
          <p:cNvPr id="13" name="Card Body"/>
          <p:cNvSpPr txBox="1"/>
          <p:nvPr/>
        </p:nvSpPr>
        <p:spPr>
          <a:xfrm>
            <a:off x="8420100" y="1924050"/>
            <a:ext cx="2781300" cy="914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Student selects/types answers and submits them digitally.</a:t>
            </a:r>
            <a:endParaRPr lang="en-US" sz="1700"/>
          </a:p>
        </p:txBody>
      </p:sp>
      <p:sp>
        <p:nvSpPr>
          <p:cNvPr id="50" name="Footer"/>
          <p:cNvSpPr txBox="1"/>
          <p:nvPr/>
        </p:nvSpPr>
        <p:spPr>
          <a:xfrm>
            <a:off x="666750" y="6096000"/>
            <a:ext cx="10287000" cy="3619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t"/>
          <a:lstStyle/>
          <a:p>
            <a:pPr algn="c"/>
            <a:r>
              <a:rPr lang="en-US" sz="1800" dirty="0" b="1">
                <a:solidFill>
                  <a:srgbClr val="0F766E"/>
                </a:solidFill>
                <a:latin typeface="Aptos"/>
              </a:rPr>
              <a:t>Students only need the exam link or QR code.</a:t>
            </a:r>
            <a:endParaRPr lang="en-US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8105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23875" y="209550"/>
            <a:ext cx="8858250" cy="4000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Aptos"/>
              </a:rPr>
              <a:t>Step 7: Live Monitor</a:t>
            </a:r>
            <a:endParaRPr lang="en-US" sz="2800"/>
          </a:p>
        </p:txBody>
      </p:sp>
      <p:sp>
        <p:nvSpPr>
          <p:cNvPr id="4" name="Slide No"/>
          <p:cNvSpPr/>
          <p:nvPr/>
        </p:nvSpPr>
        <p:spPr>
          <a:xfrm>
            <a:off x="11191875" y="171450"/>
            <a:ext cx="438150" cy="43815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>
                <a:solidFill>
                  <a:srgbClr val="111827"/>
                </a:solidFill>
              </a:rPr>
              <a:t>15</a:t>
            </a:r>
          </a:p>
        </p:txBody>
      </p:sp>
      <p:sp>
        <p:nvSpPr>
          <p:cNvPr id="5" name="Card"/>
          <p:cNvSpPr/>
          <p:nvPr/>
        </p:nvSpPr>
        <p:spPr>
          <a:xfrm>
            <a:off x="666750" y="123825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6" name="Card Title"/>
          <p:cNvSpPr txBox="1"/>
          <p:nvPr/>
        </p:nvSpPr>
        <p:spPr>
          <a:xfrm>
            <a:off x="876300" y="144780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Select exam</a:t>
            </a:r>
            <a:endParaRPr lang="en-US" sz="2100"/>
          </a:p>
        </p:txBody>
      </p:sp>
      <p:sp>
        <p:nvSpPr>
          <p:cNvPr id="7" name="Card Body"/>
          <p:cNvSpPr txBox="1"/>
          <p:nvPr/>
        </p:nvSpPr>
        <p:spPr>
          <a:xfrm>
            <a:off x="895350" y="192405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Choose the exam to monitor.</a:t>
            </a:r>
            <a:endParaRPr lang="en-US" sz="1700"/>
          </a:p>
        </p:txBody>
      </p:sp>
      <p:sp>
        <p:nvSpPr>
          <p:cNvPr id="8" name="Card"/>
          <p:cNvSpPr/>
          <p:nvPr/>
        </p:nvSpPr>
        <p:spPr>
          <a:xfrm>
            <a:off x="4429125" y="123825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9" name="Card Title"/>
          <p:cNvSpPr txBox="1"/>
          <p:nvPr/>
        </p:nvSpPr>
        <p:spPr>
          <a:xfrm>
            <a:off x="4638675" y="144780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Search/filter</a:t>
            </a:r>
            <a:endParaRPr lang="en-US" sz="2100"/>
          </a:p>
        </p:txBody>
      </p:sp>
      <p:sp>
        <p:nvSpPr>
          <p:cNvPr id="10" name="Card Body"/>
          <p:cNvSpPr txBox="1"/>
          <p:nvPr/>
        </p:nvSpPr>
        <p:spPr>
          <a:xfrm>
            <a:off x="4657725" y="192405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Find a student or section quickly.</a:t>
            </a:r>
            <a:endParaRPr lang="en-US" sz="1700"/>
          </a:p>
        </p:txBody>
      </p:sp>
      <p:sp>
        <p:nvSpPr>
          <p:cNvPr id="11" name="Card"/>
          <p:cNvSpPr/>
          <p:nvPr/>
        </p:nvSpPr>
        <p:spPr>
          <a:xfrm>
            <a:off x="8191500" y="123825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12" name="Card Title"/>
          <p:cNvSpPr txBox="1"/>
          <p:nvPr/>
        </p:nvSpPr>
        <p:spPr>
          <a:xfrm>
            <a:off x="8401050" y="144780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Progress</a:t>
            </a:r>
            <a:endParaRPr lang="en-US" sz="2100"/>
          </a:p>
        </p:txBody>
      </p:sp>
      <p:sp>
        <p:nvSpPr>
          <p:cNvPr id="13" name="Card Body"/>
          <p:cNvSpPr txBox="1"/>
          <p:nvPr/>
        </p:nvSpPr>
        <p:spPr>
          <a:xfrm>
            <a:off x="8420100" y="192405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See status, answered count, and last active time.</a:t>
            </a:r>
            <a:endParaRPr lang="en-US" sz="1700"/>
          </a:p>
        </p:txBody>
      </p:sp>
      <p:sp>
        <p:nvSpPr>
          <p:cNvPr id="14" name="Card"/>
          <p:cNvSpPr/>
          <p:nvPr/>
        </p:nvSpPr>
        <p:spPr>
          <a:xfrm>
            <a:off x="666750" y="342900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15" name="Card Title"/>
          <p:cNvSpPr txBox="1"/>
          <p:nvPr/>
        </p:nvSpPr>
        <p:spPr>
          <a:xfrm>
            <a:off x="876300" y="363855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Control</a:t>
            </a:r>
            <a:endParaRPr lang="en-US" sz="2100"/>
          </a:p>
        </p:txBody>
      </p:sp>
      <p:sp>
        <p:nvSpPr>
          <p:cNvPr id="16" name="Card Body"/>
          <p:cNvSpPr txBox="1"/>
          <p:nvPr/>
        </p:nvSpPr>
        <p:spPr>
          <a:xfrm>
            <a:off x="895350" y="411480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Block or unblock students if needed.</a:t>
            </a:r>
            <a:endParaRPr lang="en-US" sz="1700"/>
          </a:p>
        </p:txBody>
      </p:sp>
      <p:sp>
        <p:nvSpPr>
          <p:cNvPr id="17" name="Card"/>
          <p:cNvSpPr/>
          <p:nvPr/>
        </p:nvSpPr>
        <p:spPr>
          <a:xfrm>
            <a:off x="4429125" y="342900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18" name="Card Title"/>
          <p:cNvSpPr txBox="1"/>
          <p:nvPr/>
        </p:nvSpPr>
        <p:spPr>
          <a:xfrm>
            <a:off x="4638675" y="363855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Auto refresh</a:t>
            </a:r>
            <a:endParaRPr lang="en-US" sz="2100"/>
          </a:p>
        </p:txBody>
      </p:sp>
      <p:sp>
        <p:nvSpPr>
          <p:cNvPr id="19" name="Card Body"/>
          <p:cNvSpPr txBox="1"/>
          <p:nvPr/>
        </p:nvSpPr>
        <p:spPr>
          <a:xfrm>
            <a:off x="4657725" y="411480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The monitor updates automatically.</a:t>
            </a:r>
            <a:endParaRPr lang="en-US" sz="1700"/>
          </a:p>
        </p:txBody>
      </p:sp>
      <p:sp>
        <p:nvSpPr>
          <p:cNvPr id="20" name="Card"/>
          <p:cNvSpPr/>
          <p:nvPr/>
        </p:nvSpPr>
        <p:spPr>
          <a:xfrm>
            <a:off x="8191500" y="342900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21" name="Card Title"/>
          <p:cNvSpPr txBox="1"/>
          <p:nvPr/>
        </p:nvSpPr>
        <p:spPr>
          <a:xfrm>
            <a:off x="8401050" y="363855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Clear offline</a:t>
            </a:r>
            <a:endParaRPr lang="en-US" sz="2100"/>
          </a:p>
        </p:txBody>
      </p:sp>
      <p:sp>
        <p:nvSpPr>
          <p:cNvPr id="22" name="Card Body"/>
          <p:cNvSpPr txBox="1"/>
          <p:nvPr/>
        </p:nvSpPr>
        <p:spPr>
          <a:xfrm>
            <a:off x="8420100" y="411480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Remove offline sessions when cleaning up.</a:t>
            </a:r>
            <a:endParaRPr lang="en-US" sz="1700"/>
          </a:p>
        </p:txBody>
      </p:sp>
      <p:sp>
        <p:nvSpPr>
          <p:cNvPr id="50" name="Footer"/>
          <p:cNvSpPr txBox="1"/>
          <p:nvPr/>
        </p:nvSpPr>
        <p:spPr>
          <a:xfrm>
            <a:off x="666750" y="6096000"/>
            <a:ext cx="10287000" cy="3619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t"/>
          <a:lstStyle/>
          <a:p>
            <a:pPr algn="c"/>
            <a:r>
              <a:rPr lang="en-US" sz="1800" dirty="0" b="1">
                <a:solidFill>
                  <a:srgbClr val="0F766E"/>
                </a:solidFill>
                <a:latin typeface="Aptos"/>
              </a:rPr>
              <a:t>The teacher can supervise while the exam is happening.</a:t>
            </a:r>
            <a:endParaRPr lang="en-US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8105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23875" y="209550"/>
            <a:ext cx="8858250" cy="4000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Aptos"/>
              </a:rPr>
              <a:t>Step 8: Scores and Detailed Answers</a:t>
            </a:r>
            <a:endParaRPr lang="en-US" sz="2800"/>
          </a:p>
        </p:txBody>
      </p:sp>
      <p:sp>
        <p:nvSpPr>
          <p:cNvPr id="4" name="Slide No"/>
          <p:cNvSpPr/>
          <p:nvPr/>
        </p:nvSpPr>
        <p:spPr>
          <a:xfrm>
            <a:off x="11191875" y="171450"/>
            <a:ext cx="438150" cy="43815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>
                <a:solidFill>
                  <a:srgbClr val="111827"/>
                </a:solidFill>
              </a:rPr>
              <a:t>16</a:t>
            </a:r>
          </a:p>
        </p:txBody>
      </p:sp>
      <p:sp>
        <p:nvSpPr>
          <p:cNvPr id="5" name="Card"/>
          <p:cNvSpPr/>
          <p:nvPr/>
        </p:nvSpPr>
        <p:spPr>
          <a:xfrm>
            <a:off x="666750" y="1238250"/>
            <a:ext cx="3238500" cy="1762125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5E7EB"/>
            </a:solidFill>
          </a:ln>
        </p:spPr>
      </p:sp>
      <p:sp>
        <p:nvSpPr>
          <p:cNvPr id="6" name="Card Title"/>
          <p:cNvSpPr txBox="1"/>
          <p:nvPr/>
        </p:nvSpPr>
        <p:spPr>
          <a:xfrm>
            <a:off x="876300" y="1447800"/>
            <a:ext cx="2857500" cy="4191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View scores</a:t>
            </a:r>
            <a:endParaRPr lang="en-US" sz="2100"/>
          </a:p>
        </p:txBody>
      </p:sp>
      <p:sp>
        <p:nvSpPr>
          <p:cNvPr id="7" name="Card Body"/>
          <p:cNvSpPr txBox="1"/>
          <p:nvPr/>
        </p:nvSpPr>
        <p:spPr>
          <a:xfrm>
            <a:off x="895350" y="1924050"/>
            <a:ext cx="2781300" cy="9144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Open Student Scores to see results by section.</a:t>
            </a:r>
            <a:endParaRPr lang="en-US" sz="1700"/>
          </a:p>
        </p:txBody>
      </p:sp>
      <p:sp>
        <p:nvSpPr>
          <p:cNvPr id="8" name="Card"/>
          <p:cNvSpPr/>
          <p:nvPr/>
        </p:nvSpPr>
        <p:spPr>
          <a:xfrm>
            <a:off x="4429125" y="1238250"/>
            <a:ext cx="3238500" cy="1762125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5E7EB"/>
            </a:solidFill>
          </a:ln>
        </p:spPr>
      </p:sp>
      <p:sp>
        <p:nvSpPr>
          <p:cNvPr id="9" name="Card Title"/>
          <p:cNvSpPr txBox="1"/>
          <p:nvPr/>
        </p:nvSpPr>
        <p:spPr>
          <a:xfrm>
            <a:off x="4638675" y="1447800"/>
            <a:ext cx="2857500" cy="4191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Detailed answers</a:t>
            </a:r>
            <a:endParaRPr lang="en-US" sz="2100"/>
          </a:p>
        </p:txBody>
      </p:sp>
      <p:sp>
        <p:nvSpPr>
          <p:cNvPr id="10" name="Card Body"/>
          <p:cNvSpPr txBox="1"/>
          <p:nvPr/>
        </p:nvSpPr>
        <p:spPr>
          <a:xfrm>
            <a:off x="4657725" y="1924050"/>
            <a:ext cx="2781300" cy="914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Open submitted answers to check correct and wrong responses.</a:t>
            </a:r>
            <a:endParaRPr lang="en-US" sz="1700"/>
          </a:p>
        </p:txBody>
      </p:sp>
      <p:sp>
        <p:nvSpPr>
          <p:cNvPr id="11" name="Card"/>
          <p:cNvSpPr/>
          <p:nvPr/>
        </p:nvSpPr>
        <p:spPr>
          <a:xfrm>
            <a:off x="8191500" y="1238250"/>
            <a:ext cx="3238500" cy="1762125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5E7EB"/>
            </a:solidFill>
          </a:ln>
        </p:spPr>
      </p:sp>
      <p:sp>
        <p:nvSpPr>
          <p:cNvPr id="12" name="Card Title"/>
          <p:cNvSpPr txBox="1"/>
          <p:nvPr/>
        </p:nvSpPr>
        <p:spPr>
          <a:xfrm>
            <a:off x="8401050" y="1447800"/>
            <a:ext cx="2857500" cy="4191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Download Excel</a:t>
            </a:r>
            <a:endParaRPr lang="en-US" sz="2100"/>
          </a:p>
        </p:txBody>
      </p:sp>
      <p:sp>
        <p:nvSpPr>
          <p:cNvPr id="13" name="Card Body"/>
          <p:cNvSpPr txBox="1"/>
          <p:nvPr/>
        </p:nvSpPr>
        <p:spPr>
          <a:xfrm>
            <a:off x="8420100" y="1924050"/>
            <a:ext cx="2781300" cy="914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Export scores to Excel for records or reports.</a:t>
            </a:r>
            <a:endParaRPr lang="en-US" sz="1700"/>
          </a:p>
        </p:txBody>
      </p:sp>
      <p:sp>
        <p:nvSpPr>
          <p:cNvPr id="50" name="Footer"/>
          <p:cNvSpPr txBox="1"/>
          <p:nvPr/>
        </p:nvSpPr>
        <p:spPr>
          <a:xfrm>
            <a:off x="666750" y="6096000"/>
            <a:ext cx="10287000" cy="3619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t"/>
          <a:lstStyle/>
          <a:p>
            <a:pPr algn="c"/>
            <a:r>
              <a:rPr lang="en-US" sz="1800" dirty="0" b="1">
                <a:solidFill>
                  <a:srgbClr val="0F766E"/>
                </a:solidFill>
                <a:latin typeface="Aptos"/>
              </a:rPr>
              <a:t>After the exam, the teacher reviews results.</a:t>
            </a:r>
            <a:endParaRPr lang="en-US"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8105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23875" y="209550"/>
            <a:ext cx="8858250" cy="4000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Aptos"/>
              </a:rPr>
              <a:t>Step 9: Update, Lock, Regrade, or Delete</a:t>
            </a:r>
            <a:endParaRPr lang="en-US" sz="2800"/>
          </a:p>
        </p:txBody>
      </p:sp>
      <p:sp>
        <p:nvSpPr>
          <p:cNvPr id="4" name="Slide No"/>
          <p:cNvSpPr/>
          <p:nvPr/>
        </p:nvSpPr>
        <p:spPr>
          <a:xfrm>
            <a:off x="11191875" y="171450"/>
            <a:ext cx="438150" cy="43815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>
                <a:solidFill>
                  <a:srgbClr val="111827"/>
                </a:solidFill>
              </a:rPr>
              <a:t>17</a:t>
            </a:r>
          </a:p>
        </p:txBody>
      </p:sp>
      <p:sp>
        <p:nvSpPr>
          <p:cNvPr id="5" name="Card"/>
          <p:cNvSpPr/>
          <p:nvPr/>
        </p:nvSpPr>
        <p:spPr>
          <a:xfrm>
            <a:off x="666750" y="123825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6" name="Card Title"/>
          <p:cNvSpPr txBox="1"/>
          <p:nvPr/>
        </p:nvSpPr>
        <p:spPr>
          <a:xfrm>
            <a:off x="876300" y="144780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Update</a:t>
            </a:r>
            <a:endParaRPr lang="en-US" sz="2100"/>
          </a:p>
        </p:txBody>
      </p:sp>
      <p:sp>
        <p:nvSpPr>
          <p:cNvPr id="7" name="Card Body"/>
          <p:cNvSpPr txBox="1"/>
          <p:nvPr/>
        </p:nvSpPr>
        <p:spPr>
          <a:xfrm>
            <a:off x="895350" y="192405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Change the title, class, time, PDF, or answer key.</a:t>
            </a:r>
            <a:endParaRPr lang="en-US" sz="1700"/>
          </a:p>
        </p:txBody>
      </p:sp>
      <p:sp>
        <p:nvSpPr>
          <p:cNvPr id="8" name="Card"/>
          <p:cNvSpPr/>
          <p:nvPr/>
        </p:nvSpPr>
        <p:spPr>
          <a:xfrm>
            <a:off x="4429125" y="123825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9" name="Card Title"/>
          <p:cNvSpPr txBox="1"/>
          <p:nvPr/>
        </p:nvSpPr>
        <p:spPr>
          <a:xfrm>
            <a:off x="4638675" y="144780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Lock/Unlock</a:t>
            </a:r>
            <a:endParaRPr lang="en-US" sz="2100"/>
          </a:p>
        </p:txBody>
      </p:sp>
      <p:sp>
        <p:nvSpPr>
          <p:cNvPr id="10" name="Card Body"/>
          <p:cNvSpPr txBox="1"/>
          <p:nvPr/>
        </p:nvSpPr>
        <p:spPr>
          <a:xfrm>
            <a:off x="4657725" y="192405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Control whether an exam is open for students.</a:t>
            </a:r>
            <a:endParaRPr lang="en-US" sz="1700"/>
          </a:p>
        </p:txBody>
      </p:sp>
      <p:sp>
        <p:nvSpPr>
          <p:cNvPr id="11" name="Card"/>
          <p:cNvSpPr/>
          <p:nvPr/>
        </p:nvSpPr>
        <p:spPr>
          <a:xfrm>
            <a:off x="8191500" y="123825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12" name="Card Title"/>
          <p:cNvSpPr txBox="1"/>
          <p:nvPr/>
        </p:nvSpPr>
        <p:spPr>
          <a:xfrm>
            <a:off x="8401050" y="144780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Regrade</a:t>
            </a:r>
            <a:endParaRPr lang="en-US" sz="2100"/>
          </a:p>
        </p:txBody>
      </p:sp>
      <p:sp>
        <p:nvSpPr>
          <p:cNvPr id="13" name="Card Body"/>
          <p:cNvSpPr txBox="1"/>
          <p:nvPr/>
        </p:nvSpPr>
        <p:spPr>
          <a:xfrm>
            <a:off x="8420100" y="192405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Recalculate scores after editing the answer key.</a:t>
            </a:r>
            <a:endParaRPr lang="en-US" sz="1700"/>
          </a:p>
        </p:txBody>
      </p:sp>
      <p:sp>
        <p:nvSpPr>
          <p:cNvPr id="14" name="Card"/>
          <p:cNvSpPr/>
          <p:nvPr/>
        </p:nvSpPr>
        <p:spPr>
          <a:xfrm>
            <a:off x="666750" y="342900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15" name="Card Title"/>
          <p:cNvSpPr txBox="1"/>
          <p:nvPr/>
        </p:nvSpPr>
        <p:spPr>
          <a:xfrm>
            <a:off x="876300" y="363855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Delete</a:t>
            </a:r>
            <a:endParaRPr lang="en-US" sz="2100"/>
          </a:p>
        </p:txBody>
      </p:sp>
      <p:sp>
        <p:nvSpPr>
          <p:cNvPr id="16" name="Card Body"/>
          <p:cNvSpPr txBox="1"/>
          <p:nvPr/>
        </p:nvSpPr>
        <p:spPr>
          <a:xfrm>
            <a:off x="895350" y="411480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Remove an exam when it is no longer needed.</a:t>
            </a:r>
            <a:endParaRPr lang="en-US" sz="1700"/>
          </a:p>
        </p:txBody>
      </p:sp>
      <p:sp>
        <p:nvSpPr>
          <p:cNvPr id="17" name="Card"/>
          <p:cNvSpPr/>
          <p:nvPr/>
        </p:nvSpPr>
        <p:spPr>
          <a:xfrm>
            <a:off x="4429125" y="342900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18" name="Card Title"/>
          <p:cNvSpPr txBox="1"/>
          <p:nvPr/>
        </p:nvSpPr>
        <p:spPr>
          <a:xfrm>
            <a:off x="4638675" y="363855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Clear</a:t>
            </a:r>
            <a:endParaRPr lang="en-US" sz="2100"/>
          </a:p>
        </p:txBody>
      </p:sp>
      <p:sp>
        <p:nvSpPr>
          <p:cNvPr id="19" name="Card Body"/>
          <p:cNvSpPr txBox="1"/>
          <p:nvPr/>
        </p:nvSpPr>
        <p:spPr>
          <a:xfrm>
            <a:off x="4657725" y="411480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Reset fields before preparing another exam.</a:t>
            </a:r>
            <a:endParaRPr lang="en-US" sz="1700"/>
          </a:p>
        </p:txBody>
      </p:sp>
      <p:sp>
        <p:nvSpPr>
          <p:cNvPr id="20" name="Card"/>
          <p:cNvSpPr/>
          <p:nvPr/>
        </p:nvSpPr>
        <p:spPr>
          <a:xfrm>
            <a:off x="8191500" y="3429000"/>
            <a:ext cx="3238500" cy="1762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</p:sp>
      <p:sp>
        <p:nvSpPr>
          <p:cNvPr id="21" name="Card Title"/>
          <p:cNvSpPr txBox="1"/>
          <p:nvPr/>
        </p:nvSpPr>
        <p:spPr>
          <a:xfrm>
            <a:off x="8401050" y="3638550"/>
            <a:ext cx="2857500" cy="419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Clear uploaded</a:t>
            </a:r>
            <a:endParaRPr lang="en-US" sz="2100"/>
          </a:p>
        </p:txBody>
      </p:sp>
      <p:sp>
        <p:nvSpPr>
          <p:cNvPr id="22" name="Card Body"/>
          <p:cNvSpPr txBox="1"/>
          <p:nvPr/>
        </p:nvSpPr>
        <p:spPr>
          <a:xfrm>
            <a:off x="8420100" y="4114800"/>
            <a:ext cx="27813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Clean the uploaded exam list carefully.</a:t>
            </a:r>
            <a:endParaRPr lang="en-US" sz="1700"/>
          </a:p>
        </p:txBody>
      </p:sp>
      <p:sp>
        <p:nvSpPr>
          <p:cNvPr id="50" name="Footer"/>
          <p:cNvSpPr txBox="1"/>
          <p:nvPr/>
        </p:nvSpPr>
        <p:spPr>
          <a:xfrm>
            <a:off x="666750" y="6096000"/>
            <a:ext cx="10287000" cy="3619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t"/>
          <a:lstStyle/>
          <a:p>
            <a:pPr algn="c"/>
            <a:r>
              <a:rPr lang="en-US" sz="1800" dirty="0" b="1">
                <a:solidFill>
                  <a:srgbClr val="0F766E"/>
                </a:solidFill>
                <a:latin typeface="Aptos"/>
              </a:rPr>
              <a:t>These are useful after an exam has already been created.</a:t>
            </a:r>
            <a:endParaRPr lang="en-US"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8105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23875" y="209550"/>
            <a:ext cx="8858250" cy="4000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Aptos"/>
              </a:rPr>
              <a:t>Easy Demo Order for Presentation</a:t>
            </a:r>
            <a:endParaRPr lang="en-US" sz="2800"/>
          </a:p>
        </p:txBody>
      </p:sp>
      <p:sp>
        <p:nvSpPr>
          <p:cNvPr id="4" name="Slide No"/>
          <p:cNvSpPr/>
          <p:nvPr/>
        </p:nvSpPr>
        <p:spPr>
          <a:xfrm>
            <a:off x="11191875" y="171450"/>
            <a:ext cx="438150" cy="43815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>
                <a:solidFill>
                  <a:srgbClr val="111827"/>
                </a:solidFill>
              </a:rPr>
              <a:t>18</a:t>
            </a:r>
          </a:p>
        </p:txBody>
      </p:sp>
      <p:sp>
        <p:nvSpPr>
          <p:cNvPr id="5" name="Card"/>
          <p:cNvSpPr/>
          <p:nvPr/>
        </p:nvSpPr>
        <p:spPr>
          <a:xfrm>
            <a:off x="666750" y="1238250"/>
            <a:ext cx="3238500" cy="1762125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5E7EB"/>
            </a:solidFill>
          </a:ln>
        </p:spPr>
      </p:sp>
      <p:sp>
        <p:nvSpPr>
          <p:cNvPr id="6" name="Card Title"/>
          <p:cNvSpPr txBox="1"/>
          <p:nvPr/>
        </p:nvSpPr>
        <p:spPr>
          <a:xfrm>
            <a:off x="876300" y="1447800"/>
            <a:ext cx="2857500" cy="4191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1. Problem</a:t>
            </a:r>
            <a:endParaRPr lang="en-US" sz="2100"/>
          </a:p>
        </p:txBody>
      </p:sp>
      <p:sp>
        <p:nvSpPr>
          <p:cNvPr id="7" name="Card Body"/>
          <p:cNvSpPr txBox="1"/>
          <p:nvPr/>
        </p:nvSpPr>
        <p:spPr>
          <a:xfrm>
            <a:off x="895350" y="1924050"/>
            <a:ext cx="2781300" cy="914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Printing, manual checking, messy records.</a:t>
            </a:r>
            <a:endParaRPr lang="en-US" sz="1700"/>
          </a:p>
        </p:txBody>
      </p:sp>
      <p:sp>
        <p:nvSpPr>
          <p:cNvPr id="8" name="Card"/>
          <p:cNvSpPr/>
          <p:nvPr/>
        </p:nvSpPr>
        <p:spPr>
          <a:xfrm>
            <a:off x="4429125" y="1238250"/>
            <a:ext cx="3238500" cy="1762125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</a:ln>
        </p:spPr>
      </p:sp>
      <p:sp>
        <p:nvSpPr>
          <p:cNvPr id="9" name="Card Title"/>
          <p:cNvSpPr txBox="1"/>
          <p:nvPr/>
        </p:nvSpPr>
        <p:spPr>
          <a:xfrm>
            <a:off x="4638675" y="1447800"/>
            <a:ext cx="2857500" cy="4191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2. Login</a:t>
            </a:r>
            <a:endParaRPr lang="en-US" sz="2100"/>
          </a:p>
        </p:txBody>
      </p:sp>
      <p:sp>
        <p:nvSpPr>
          <p:cNvPr id="10" name="Card Body"/>
          <p:cNvSpPr txBox="1"/>
          <p:nvPr/>
        </p:nvSpPr>
        <p:spPr>
          <a:xfrm>
            <a:off x="4657725" y="1924050"/>
            <a:ext cx="2781300" cy="914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Show admin access.</a:t>
            </a:r>
            <a:endParaRPr lang="en-US" sz="1700"/>
          </a:p>
        </p:txBody>
      </p:sp>
      <p:sp>
        <p:nvSpPr>
          <p:cNvPr id="11" name="Card"/>
          <p:cNvSpPr/>
          <p:nvPr/>
        </p:nvSpPr>
        <p:spPr>
          <a:xfrm>
            <a:off x="8191500" y="1238250"/>
            <a:ext cx="3238500" cy="1762125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5E7EB"/>
            </a:solidFill>
          </a:ln>
        </p:spPr>
      </p:sp>
      <p:sp>
        <p:nvSpPr>
          <p:cNvPr id="12" name="Card Title"/>
          <p:cNvSpPr txBox="1"/>
          <p:nvPr/>
        </p:nvSpPr>
        <p:spPr>
          <a:xfrm>
            <a:off x="8401050" y="1447800"/>
            <a:ext cx="2857500" cy="4191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3. Import roster</a:t>
            </a:r>
            <a:endParaRPr lang="en-US" sz="2100"/>
          </a:p>
        </p:txBody>
      </p:sp>
      <p:sp>
        <p:nvSpPr>
          <p:cNvPr id="13" name="Card Body"/>
          <p:cNvSpPr txBox="1"/>
          <p:nvPr/>
        </p:nvSpPr>
        <p:spPr>
          <a:xfrm>
            <a:off x="8420100" y="1924050"/>
            <a:ext cx="2781300" cy="9144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Show Excel/CSV format.</a:t>
            </a:r>
            <a:endParaRPr lang="en-US" sz="1700"/>
          </a:p>
        </p:txBody>
      </p:sp>
      <p:sp>
        <p:nvSpPr>
          <p:cNvPr id="14" name="Card"/>
          <p:cNvSpPr/>
          <p:nvPr/>
        </p:nvSpPr>
        <p:spPr>
          <a:xfrm>
            <a:off x="666750" y="3429000"/>
            <a:ext cx="3238500" cy="1762125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E5E7EB"/>
            </a:solidFill>
          </a:ln>
        </p:spPr>
      </p:sp>
      <p:sp>
        <p:nvSpPr>
          <p:cNvPr id="15" name="Card Title"/>
          <p:cNvSpPr txBox="1"/>
          <p:nvPr/>
        </p:nvSpPr>
        <p:spPr>
          <a:xfrm>
            <a:off x="876300" y="3638550"/>
            <a:ext cx="2857500" cy="41910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4. Create exam</a:t>
            </a:r>
            <a:endParaRPr lang="en-US" sz="2100"/>
          </a:p>
        </p:txBody>
      </p:sp>
      <p:sp>
        <p:nvSpPr>
          <p:cNvPr id="16" name="Card Body"/>
          <p:cNvSpPr txBox="1"/>
          <p:nvPr/>
        </p:nvSpPr>
        <p:spPr>
          <a:xfrm>
            <a:off x="895350" y="4114800"/>
            <a:ext cx="2781300" cy="914400"/>
          </a:xfrm>
          <a:prstGeom prst="rect">
            <a:avLst/>
          </a:prstGeom>
          <a:solidFill>
            <a:srgbClr val="ECFE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Show PDF and answer key format.</a:t>
            </a:r>
            <a:endParaRPr lang="en-US" sz="1700"/>
          </a:p>
        </p:txBody>
      </p:sp>
      <p:sp>
        <p:nvSpPr>
          <p:cNvPr id="17" name="Card"/>
          <p:cNvSpPr/>
          <p:nvPr/>
        </p:nvSpPr>
        <p:spPr>
          <a:xfrm>
            <a:off x="4429125" y="3429000"/>
            <a:ext cx="3238500" cy="1762125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5E7EB"/>
            </a:solidFill>
          </a:ln>
        </p:spPr>
      </p:sp>
      <p:sp>
        <p:nvSpPr>
          <p:cNvPr id="18" name="Card Title"/>
          <p:cNvSpPr txBox="1"/>
          <p:nvPr/>
        </p:nvSpPr>
        <p:spPr>
          <a:xfrm>
            <a:off x="4638675" y="3638550"/>
            <a:ext cx="2857500" cy="4191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5. Student scan</a:t>
            </a:r>
            <a:endParaRPr lang="en-US" sz="2100"/>
          </a:p>
        </p:txBody>
      </p:sp>
      <p:sp>
        <p:nvSpPr>
          <p:cNvPr id="19" name="Card Body"/>
          <p:cNvSpPr txBox="1"/>
          <p:nvPr/>
        </p:nvSpPr>
        <p:spPr>
          <a:xfrm>
            <a:off x="4657725" y="4114800"/>
            <a:ext cx="2781300" cy="9144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Show QR or link access.</a:t>
            </a:r>
            <a:endParaRPr lang="en-US" sz="1700"/>
          </a:p>
        </p:txBody>
      </p:sp>
      <p:sp>
        <p:nvSpPr>
          <p:cNvPr id="20" name="Card"/>
          <p:cNvSpPr/>
          <p:nvPr/>
        </p:nvSpPr>
        <p:spPr>
          <a:xfrm>
            <a:off x="8191500" y="3429000"/>
            <a:ext cx="3238500" cy="1762125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5E7EB"/>
            </a:solidFill>
          </a:ln>
        </p:spPr>
      </p:sp>
      <p:sp>
        <p:nvSpPr>
          <p:cNvPr id="21" name="Card Title"/>
          <p:cNvSpPr txBox="1"/>
          <p:nvPr/>
        </p:nvSpPr>
        <p:spPr>
          <a:xfrm>
            <a:off x="8401050" y="3638550"/>
            <a:ext cx="2857500" cy="4191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6. Results</a:t>
            </a:r>
            <a:endParaRPr lang="en-US" sz="2100"/>
          </a:p>
        </p:txBody>
      </p:sp>
      <p:sp>
        <p:nvSpPr>
          <p:cNvPr id="22" name="Card Body"/>
          <p:cNvSpPr txBox="1"/>
          <p:nvPr/>
        </p:nvSpPr>
        <p:spPr>
          <a:xfrm>
            <a:off x="8420100" y="4114800"/>
            <a:ext cx="2781300" cy="91440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Show monitoring, scores, and answers.</a:t>
            </a:r>
            <a:endParaRPr lang="en-US" sz="1700"/>
          </a:p>
        </p:txBody>
      </p:sp>
      <p:sp>
        <p:nvSpPr>
          <p:cNvPr id="50" name="Footer"/>
          <p:cNvSpPr txBox="1"/>
          <p:nvPr/>
        </p:nvSpPr>
        <p:spPr>
          <a:xfrm>
            <a:off x="666750" y="6096000"/>
            <a:ext cx="10287000" cy="3619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t"/>
          <a:lstStyle/>
          <a:p>
            <a:pPr algn="c"/>
            <a:r>
              <a:rPr lang="en-US" sz="1800" dirty="0" b="1">
                <a:solidFill>
                  <a:srgbClr val="0F766E"/>
                </a:solidFill>
                <a:latin typeface="Aptos"/>
              </a:rPr>
              <a:t>Follow this order so non-coders can understand the app quickly.</a:t>
            </a:r>
            <a:endParaRPr lang="en-US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0" y="0"/>
            <a:ext cx="12192000" cy="78105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523875" y="209550"/>
            <a:ext cx="8858250" cy="40005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800" dirty="0" b="1">
                <a:solidFill>
                  <a:srgbClr val="FFFFFF"/>
                </a:solidFill>
                <a:latin typeface="Aptos"/>
              </a:rPr>
              <a:t>Appendix Evidence to Include</a:t>
            </a:r>
            <a:endParaRPr lang="en-US" sz="2800"/>
          </a:p>
        </p:txBody>
      </p:sp>
      <p:sp>
        <p:nvSpPr>
          <p:cNvPr id="4" name="Slide No"/>
          <p:cNvSpPr/>
          <p:nvPr/>
        </p:nvSpPr>
        <p:spPr>
          <a:xfrm>
            <a:off x="11191875" y="171450"/>
            <a:ext cx="438150" cy="43815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600" b="1">
                <a:solidFill>
                  <a:srgbClr val="111827"/>
                </a:solidFill>
              </a:rPr>
              <a:t>19</a:t>
            </a:r>
          </a:p>
        </p:txBody>
      </p:sp>
      <p:sp>
        <p:nvSpPr>
          <p:cNvPr id="5" name="Card"/>
          <p:cNvSpPr/>
          <p:nvPr/>
        </p:nvSpPr>
        <p:spPr>
          <a:xfrm>
            <a:off x="666750" y="1238250"/>
            <a:ext cx="3238500" cy="1762125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</a:ln>
        </p:spPr>
      </p:sp>
      <p:sp>
        <p:nvSpPr>
          <p:cNvPr id="6" name="Card Title"/>
          <p:cNvSpPr txBox="1"/>
          <p:nvPr/>
        </p:nvSpPr>
        <p:spPr>
          <a:xfrm>
            <a:off x="876300" y="1447800"/>
            <a:ext cx="2857500" cy="4191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Screenshots</a:t>
            </a:r>
            <a:endParaRPr lang="en-US" sz="2100"/>
          </a:p>
        </p:txBody>
      </p:sp>
      <p:sp>
        <p:nvSpPr>
          <p:cNvPr id="7" name="Card Body"/>
          <p:cNvSpPr txBox="1"/>
          <p:nvPr/>
        </p:nvSpPr>
        <p:spPr>
          <a:xfrm>
            <a:off x="895350" y="1924050"/>
            <a:ext cx="2781300" cy="91440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Save demo screenshots in Deployment\Screenshots.</a:t>
            </a:r>
            <a:endParaRPr lang="en-US" sz="1700"/>
          </a:p>
        </p:txBody>
      </p:sp>
      <p:sp>
        <p:nvSpPr>
          <p:cNvPr id="8" name="Card"/>
          <p:cNvSpPr/>
          <p:nvPr/>
        </p:nvSpPr>
        <p:spPr>
          <a:xfrm>
            <a:off x="4429125" y="1238250"/>
            <a:ext cx="3238500" cy="1762125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5E7EB"/>
            </a:solidFill>
          </a:ln>
        </p:spPr>
      </p:sp>
      <p:sp>
        <p:nvSpPr>
          <p:cNvPr id="9" name="Card Title"/>
          <p:cNvSpPr txBox="1"/>
          <p:nvPr/>
        </p:nvSpPr>
        <p:spPr>
          <a:xfrm>
            <a:off x="4638675" y="1447800"/>
            <a:ext cx="2857500" cy="4191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Installation proof</a:t>
            </a:r>
            <a:endParaRPr lang="en-US" sz="2100"/>
          </a:p>
        </p:txBody>
      </p:sp>
      <p:sp>
        <p:nvSpPr>
          <p:cNvPr id="10" name="Card Body"/>
          <p:cNvSpPr txBox="1"/>
          <p:nvPr/>
        </p:nvSpPr>
        <p:spPr>
          <a:xfrm>
            <a:off x="4657725" y="1924050"/>
            <a:ext cx="2781300" cy="9144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Save certificate/evidence in Deployment\Certificate or Deployment\InstallationEvidence.</a:t>
            </a:r>
            <a:endParaRPr lang="en-US" sz="1700"/>
          </a:p>
        </p:txBody>
      </p:sp>
      <p:sp>
        <p:nvSpPr>
          <p:cNvPr id="11" name="Card"/>
          <p:cNvSpPr/>
          <p:nvPr/>
        </p:nvSpPr>
        <p:spPr>
          <a:xfrm>
            <a:off x="8191500" y="1238250"/>
            <a:ext cx="3238500" cy="1762125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5E7EB"/>
            </a:solidFill>
          </a:ln>
        </p:spPr>
      </p:sp>
      <p:sp>
        <p:nvSpPr>
          <p:cNvPr id="12" name="Card Title"/>
          <p:cNvSpPr txBox="1"/>
          <p:nvPr/>
        </p:nvSpPr>
        <p:spPr>
          <a:xfrm>
            <a:off x="8401050" y="1447800"/>
            <a:ext cx="2857500" cy="4191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100" dirty="0" b="1">
                <a:solidFill>
                  <a:srgbClr val="111827"/>
                </a:solidFill>
                <a:latin typeface="Aptos"/>
              </a:rPr>
              <a:t>Recommended shots</a:t>
            </a:r>
            <a:endParaRPr lang="en-US" sz="2100"/>
          </a:p>
        </p:txBody>
      </p:sp>
      <p:sp>
        <p:nvSpPr>
          <p:cNvPr id="13" name="Card Body"/>
          <p:cNvSpPr txBox="1"/>
          <p:nvPr/>
        </p:nvSpPr>
        <p:spPr>
          <a:xfrm>
            <a:off x="8420100" y="1924050"/>
            <a:ext cx="2781300" cy="914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1700" dirty="0">
                <a:solidFill>
                  <a:srgbClr val="374151"/>
                </a:solidFill>
                <a:latin typeface="Aptos"/>
              </a:rPr>
              <a:t>Login, dashboard, student import, exam setup, QR, monitor, scores.</a:t>
            </a:r>
            <a:endParaRPr lang="en-US" sz="1700"/>
          </a:p>
        </p:txBody>
      </p:sp>
      <p:sp>
        <p:nvSpPr>
          <p:cNvPr id="50" name="Footer"/>
          <p:cNvSpPr txBox="1"/>
          <p:nvPr/>
        </p:nvSpPr>
        <p:spPr>
          <a:xfrm>
            <a:off x="666750" y="6096000"/>
            <a:ext cx="10287000" cy="3619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wrap="square" anchor="t"/>
          <a:lstStyle/>
          <a:p>
            <a:pPr algn="c"/>
            <a:r>
              <a:rPr lang="en-US" sz="1800" dirty="0" b="1">
                <a:solidFill>
                  <a:srgbClr val="0F766E"/>
                </a:solidFill>
                <a:latin typeface="Aptos"/>
              </a:rPr>
              <a:t>Use these folders for your documentation proof.</a:t>
            </a:r>
            <a:endParaRPr lang="en-US"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B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"/>
          <p:cNvSpPr/>
          <p:nvPr/>
        </p:nvSpPr>
        <p:spPr>
          <a:xfrm>
            <a:off x="0" y="5286375"/>
            <a:ext cx="12192000" cy="1571625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Name"/>
          <p:cNvSpPr/>
          <p:nvPr/>
        </p:nvSpPr>
        <p:spPr>
          <a:xfrm>
            <a:off x="8858250" y="1000125"/>
            <a:ext cx="2095500" cy="20955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3100" b="1">
                <a:solidFill>
                  <a:srgbClr val="111827"/>
                </a:solidFill>
              </a:rPr>
              <a:t>ACADexa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66750" y="857250"/>
            <a:ext cx="7810500" cy="1809750"/>
          </a:xfrm>
          <a:prstGeom prst="rect">
            <a:avLst/>
          </a:prstGeom>
          <a:solidFill>
            <a:srgbClr val="1D2B53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4700" dirty="0" b="1">
                <a:solidFill>
                  <a:srgbClr val="FFFFFF"/>
                </a:solidFill>
                <a:latin typeface="Aptos"/>
              </a:rPr>
              <a:t>ACADexa</a:t>
            </a:r>
            <a:endParaRPr lang="en-US" sz="4700"/>
          </a:p>
        </p:txBody>
      </p:sp>
      <p:sp>
        <p:nvSpPr>
          <p:cNvPr id="5" name="Subtitle"/>
          <p:cNvSpPr txBox="1"/>
          <p:nvPr/>
        </p:nvSpPr>
        <p:spPr>
          <a:xfrm>
            <a:off x="723900" y="2952750"/>
            <a:ext cx="7620000" cy="1000125"/>
          </a:xfrm>
          <a:prstGeom prst="rect">
            <a:avLst/>
          </a:prstGeom>
          <a:solidFill>
            <a:srgbClr val="1D2B53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400" dirty="0">
                <a:solidFill>
                  <a:srgbClr val="E0F2FE"/>
                </a:solidFill>
                <a:latin typeface="Aptos"/>
              </a:rPr>
              <a:t>A simple digital exam dashboard that helps teachers reduce printing, avoid manual checking, and keep exam records organized.</a:t>
            </a:r>
            <a:endParaRPr lang="en-US" sz="2400"/>
          </a:p>
        </p:txBody>
      </p:sp>
      <p:sp>
        <p:nvSpPr>
          <p:cNvPr id="6" name="Footer"/>
          <p:cNvSpPr txBox="1"/>
          <p:nvPr/>
        </p:nvSpPr>
        <p:spPr>
          <a:xfrm>
            <a:off x="762000" y="5829300"/>
            <a:ext cx="7620000" cy="381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anchor="t"/>
          <a:lstStyle/>
          <a:p>
            <a:pPr algn="l"/>
            <a:r>
              <a:rPr lang="en-US" sz="2200" dirty="0" b="1">
                <a:solidFill>
                  <a:srgbClr val="FFFFFF"/>
                </a:solidFill>
                <a:latin typeface="Aptos"/>
              </a:rPr>
              <a:t>Thank you</a:t>
            </a:r>
            <a:endParaRPr lang="en-US"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xa Step">
  <a:themeElements>
    <a:clrScheme name="ACADexa">
      <a:dk1>
        <a:srgbClr val="111827"/>
      </a:dk1>
      <a:lt1>
        <a:srgbClr val="FFFFFF"/>
      </a:lt1>
      <a:dk2>
        <a:srgbClr val="1F2937"/>
      </a:dk2>
      <a:lt2>
        <a:srgbClr val="F8FAFC"/>
      </a:lt2>
      <a:accent1>
        <a:srgbClr val="0F766E"/>
      </a:accent1>
      <a:accent2>
        <a:srgbClr val="FBBF24"/>
      </a:accent2>
      <a:accent3>
        <a:srgbClr val="3B82F6"/>
      </a:accent3>
      <a:accent4>
        <a:srgbClr val="22C55E"/>
      </a:accent4>
      <a:accent5>
        <a:srgbClr val="EF4444"/>
      </a:accent5>
      <a:accent6>
        <a:srgbClr val="1D2B53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20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ACADexa Step By Step Non-Coder Presentation</dc:title>
  <dc:creator>Codex</dc:creator>
  <cp:lastModifiedBy>Codex</cp:lastModifiedBy>
</cp:coreProperties>
</file>